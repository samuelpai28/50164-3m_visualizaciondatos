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anose="020B0604020202020204" charset="-122"/>
      <p:regular r:id="rId15"/>
    </p:embeddedFont>
    <p:embeddedFont>
      <p:font typeface="Quattrocento Sans" panose="020B0502050000020003" pitchFamily="34" charset="0"/>
      <p:regular r:id="rId16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53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https://kimi-web-img.moonshot.cn/img/dashthis.com/d815380c5d32145e08f5cc94f7b3277d9f1694e6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23" b="2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381000" y="1410653"/>
            <a:ext cx="2457450" cy="419100"/>
          </a:xfrm>
          <a:custGeom>
            <a:avLst/>
            <a:gdLst/>
            <a:ahLst/>
            <a:cxnLst/>
            <a:rect l="l" t="t" r="r" b="b"/>
            <a:pathLst>
              <a:path w="2457450" h="419100">
                <a:moveTo>
                  <a:pt x="209550" y="0"/>
                </a:moveTo>
                <a:lnTo>
                  <a:pt x="2247900" y="0"/>
                </a:lnTo>
                <a:cubicBezTo>
                  <a:pt x="2363554" y="0"/>
                  <a:pt x="2457450" y="93896"/>
                  <a:pt x="2457450" y="209550"/>
                </a:cubicBezTo>
                <a:lnTo>
                  <a:pt x="2457450" y="209550"/>
                </a:lnTo>
                <a:cubicBezTo>
                  <a:pt x="2457450" y="325204"/>
                  <a:pt x="2363554" y="419100"/>
                  <a:pt x="2247900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571500" y="1486853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PROYECTO ABP + CDIO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13455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de Datos Abiertos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COVID-19 en Colombia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53853"/>
            <a:ext cx="8648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Exploración y Comprensión de Datos con Microsoft Fabric y Power BI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5587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381000" y="586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63166" y="6029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1219200" y="590550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1.6M+ Registros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19200" y="61722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del INS Colombia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00506" y="586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164812" y="60293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838706" y="59055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Metodología CDIO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8706" y="617220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Fases Estructuradas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405342" y="59055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Curso: Visualización de Datos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95817" y="617220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C5D6498-EE84-F43C-A9BC-C8573BED08F0}"/>
              </a:ext>
            </a:extLst>
          </p:cNvPr>
          <p:cNvSpPr/>
          <p:nvPr/>
        </p:nvSpPr>
        <p:spPr>
          <a:xfrm>
            <a:off x="392079" y="4112367"/>
            <a:ext cx="9265104" cy="2080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 err="1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Integrantes</a:t>
            </a:r>
            <a:r>
              <a:rPr lang="en-US" sz="1800" b="1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Emanuel Zuluaga, Nicolas Paez, Mateo Giraldo Soto, Julian Cañas Saldarriaga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512" y="361512"/>
            <a:ext cx="11559354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kern="0" spc="7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DE LA PRESENTACIÓN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512" y="723024"/>
            <a:ext cx="11740110" cy="54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7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88" y="1554503"/>
            <a:ext cx="5612477" cy="1319520"/>
          </a:xfrm>
          <a:custGeom>
            <a:avLst/>
            <a:gdLst/>
            <a:ahLst/>
            <a:cxnLst/>
            <a:rect l="l" t="t" r="r" b="b"/>
            <a:pathLst>
              <a:path w="5612477" h="1319520">
                <a:moveTo>
                  <a:pt x="36151" y="0"/>
                </a:moveTo>
                <a:lnTo>
                  <a:pt x="5467871" y="0"/>
                </a:lnTo>
                <a:cubicBezTo>
                  <a:pt x="5547735" y="0"/>
                  <a:pt x="5612477" y="64742"/>
                  <a:pt x="5612477" y="144606"/>
                </a:cubicBezTo>
                <a:lnTo>
                  <a:pt x="5612477" y="1174913"/>
                </a:lnTo>
                <a:cubicBezTo>
                  <a:pt x="5612477" y="1254777"/>
                  <a:pt x="5547735" y="1319520"/>
                  <a:pt x="5467871" y="1319520"/>
                </a:cubicBezTo>
                <a:lnTo>
                  <a:pt x="36151" y="1319520"/>
                </a:lnTo>
                <a:cubicBezTo>
                  <a:pt x="16185" y="1319520"/>
                  <a:pt x="0" y="1303334"/>
                  <a:pt x="0" y="1283368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79588" y="1554503"/>
            <a:ext cx="36151" cy="1319520"/>
          </a:xfrm>
          <a:custGeom>
            <a:avLst/>
            <a:gdLst/>
            <a:ahLst/>
            <a:cxnLst/>
            <a:rect l="l" t="t" r="r" b="b"/>
            <a:pathLst>
              <a:path w="36151" h="1319520">
                <a:moveTo>
                  <a:pt x="36151" y="0"/>
                </a:moveTo>
                <a:lnTo>
                  <a:pt x="36151" y="0"/>
                </a:lnTo>
                <a:lnTo>
                  <a:pt x="36151" y="1319520"/>
                </a:lnTo>
                <a:lnTo>
                  <a:pt x="36151" y="1319520"/>
                </a:lnTo>
                <a:cubicBezTo>
                  <a:pt x="16185" y="1319520"/>
                  <a:pt x="0" y="1303334"/>
                  <a:pt x="0" y="1283368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14571" y="1771410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60344" y="1771410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1444" y="1771410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y Objetivos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1444" y="2132810"/>
            <a:ext cx="4555054" cy="53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general del proyecto, fuente de datos y alcance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588" y="3059185"/>
            <a:ext cx="5612477" cy="1057423"/>
          </a:xfrm>
          <a:custGeom>
            <a:avLst/>
            <a:gdLst/>
            <a:ahLst/>
            <a:cxnLst/>
            <a:rect l="l" t="t" r="r" b="b"/>
            <a:pathLst>
              <a:path w="5612477" h="1057423">
                <a:moveTo>
                  <a:pt x="36151" y="0"/>
                </a:moveTo>
                <a:lnTo>
                  <a:pt x="5467875" y="0"/>
                </a:lnTo>
                <a:cubicBezTo>
                  <a:pt x="5547737" y="0"/>
                  <a:pt x="5612477" y="64741"/>
                  <a:pt x="5612477" y="144603"/>
                </a:cubicBezTo>
                <a:lnTo>
                  <a:pt x="5612477" y="912821"/>
                </a:lnTo>
                <a:cubicBezTo>
                  <a:pt x="5612477" y="992629"/>
                  <a:pt x="5547683" y="1057423"/>
                  <a:pt x="5467875" y="1057423"/>
                </a:cubicBez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79588" y="3059185"/>
            <a:ext cx="36151" cy="1057423"/>
          </a:xfrm>
          <a:custGeom>
            <a:avLst/>
            <a:gdLst/>
            <a:ahLst/>
            <a:cxnLst/>
            <a:rect l="l" t="t" r="r" b="b"/>
            <a:pathLst>
              <a:path w="36151" h="1057423">
                <a:moveTo>
                  <a:pt x="36151" y="0"/>
                </a:moveTo>
                <a:lnTo>
                  <a:pt x="36151" y="0"/>
                </a:lnTo>
                <a:lnTo>
                  <a:pt x="36151" y="1057423"/>
                </a:ln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614571" y="3276092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60344" y="3276092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1444" y="3276092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Metodología ABP + CDIO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01444" y="3637491"/>
            <a:ext cx="4555054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metodológico y aplicación al análisis de datos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9588" y="4299510"/>
            <a:ext cx="5612477" cy="1057423"/>
          </a:xfrm>
          <a:custGeom>
            <a:avLst/>
            <a:gdLst/>
            <a:ahLst/>
            <a:cxnLst/>
            <a:rect l="l" t="t" r="r" b="b"/>
            <a:pathLst>
              <a:path w="5612477" h="1057423">
                <a:moveTo>
                  <a:pt x="36151" y="0"/>
                </a:moveTo>
                <a:lnTo>
                  <a:pt x="5467875" y="0"/>
                </a:lnTo>
                <a:cubicBezTo>
                  <a:pt x="5547737" y="0"/>
                  <a:pt x="5612477" y="64741"/>
                  <a:pt x="5612477" y="144603"/>
                </a:cubicBezTo>
                <a:lnTo>
                  <a:pt x="5612477" y="912821"/>
                </a:lnTo>
                <a:cubicBezTo>
                  <a:pt x="5612477" y="992629"/>
                  <a:pt x="5547683" y="1057423"/>
                  <a:pt x="5467875" y="1057423"/>
                </a:cubicBez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79588" y="4299510"/>
            <a:ext cx="36151" cy="1057423"/>
          </a:xfrm>
          <a:custGeom>
            <a:avLst/>
            <a:gdLst/>
            <a:ahLst/>
            <a:cxnLst/>
            <a:rect l="l" t="t" r="r" b="b"/>
            <a:pathLst>
              <a:path w="36151" h="1057423">
                <a:moveTo>
                  <a:pt x="36151" y="0"/>
                </a:moveTo>
                <a:lnTo>
                  <a:pt x="36151" y="0"/>
                </a:lnTo>
                <a:lnTo>
                  <a:pt x="36151" y="1057423"/>
                </a:ln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14571" y="4516417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60344" y="4516417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01444" y="4516417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C - Concebir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1444" y="4877817"/>
            <a:ext cx="4555054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de fuente, análisis de columnas y preparación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588" y="5539836"/>
            <a:ext cx="5612477" cy="1057423"/>
          </a:xfrm>
          <a:custGeom>
            <a:avLst/>
            <a:gdLst/>
            <a:ahLst/>
            <a:cxnLst/>
            <a:rect l="l" t="t" r="r" b="b"/>
            <a:pathLst>
              <a:path w="5612477" h="1057423">
                <a:moveTo>
                  <a:pt x="36151" y="0"/>
                </a:moveTo>
                <a:lnTo>
                  <a:pt x="5467875" y="0"/>
                </a:lnTo>
                <a:cubicBezTo>
                  <a:pt x="5547737" y="0"/>
                  <a:pt x="5612477" y="64741"/>
                  <a:pt x="5612477" y="144603"/>
                </a:cubicBezTo>
                <a:lnTo>
                  <a:pt x="5612477" y="912821"/>
                </a:lnTo>
                <a:cubicBezTo>
                  <a:pt x="5612477" y="992629"/>
                  <a:pt x="5547683" y="1057423"/>
                  <a:pt x="5467875" y="1057423"/>
                </a:cubicBez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79588" y="5539836"/>
            <a:ext cx="36151" cy="1057423"/>
          </a:xfrm>
          <a:custGeom>
            <a:avLst/>
            <a:gdLst/>
            <a:ahLst/>
            <a:cxnLst/>
            <a:rect l="l" t="t" r="r" b="b"/>
            <a:pathLst>
              <a:path w="36151" h="1057423">
                <a:moveTo>
                  <a:pt x="36151" y="0"/>
                </a:moveTo>
                <a:lnTo>
                  <a:pt x="36151" y="0"/>
                </a:lnTo>
                <a:lnTo>
                  <a:pt x="36151" y="1057423"/>
                </a:ln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14571" y="5756744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60344" y="5756744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01444" y="5756744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D - Diseñar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1444" y="6118143"/>
            <a:ext cx="4555054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del pipeline ETL y modelo semántico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23998" y="1554503"/>
            <a:ext cx="5612477" cy="1057423"/>
          </a:xfrm>
          <a:custGeom>
            <a:avLst/>
            <a:gdLst/>
            <a:ahLst/>
            <a:cxnLst/>
            <a:rect l="l" t="t" r="r" b="b"/>
            <a:pathLst>
              <a:path w="5612477" h="1057423">
                <a:moveTo>
                  <a:pt x="36151" y="0"/>
                </a:moveTo>
                <a:lnTo>
                  <a:pt x="5467875" y="0"/>
                </a:lnTo>
                <a:cubicBezTo>
                  <a:pt x="5547737" y="0"/>
                  <a:pt x="5612477" y="64741"/>
                  <a:pt x="5612477" y="144603"/>
                </a:cubicBezTo>
                <a:lnTo>
                  <a:pt x="5612477" y="912821"/>
                </a:lnTo>
                <a:cubicBezTo>
                  <a:pt x="5612477" y="992629"/>
                  <a:pt x="5547683" y="1057423"/>
                  <a:pt x="5467875" y="1057423"/>
                </a:cubicBez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223998" y="1554503"/>
            <a:ext cx="36151" cy="1057423"/>
          </a:xfrm>
          <a:custGeom>
            <a:avLst/>
            <a:gdLst/>
            <a:ahLst/>
            <a:cxnLst/>
            <a:rect l="l" t="t" r="r" b="b"/>
            <a:pathLst>
              <a:path w="36151" h="1057423">
                <a:moveTo>
                  <a:pt x="36151" y="0"/>
                </a:moveTo>
                <a:lnTo>
                  <a:pt x="36151" y="0"/>
                </a:lnTo>
                <a:lnTo>
                  <a:pt x="36151" y="1057423"/>
                </a:ln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458981" y="1771410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404754" y="1771410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45854" y="1771410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I - Implementar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45854" y="2132810"/>
            <a:ext cx="4555054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Transformación de datos y construcción del modelo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3998" y="2794829"/>
            <a:ext cx="5612477" cy="1057423"/>
          </a:xfrm>
          <a:custGeom>
            <a:avLst/>
            <a:gdLst/>
            <a:ahLst/>
            <a:cxnLst/>
            <a:rect l="l" t="t" r="r" b="b"/>
            <a:pathLst>
              <a:path w="5612477" h="1057423">
                <a:moveTo>
                  <a:pt x="36151" y="0"/>
                </a:moveTo>
                <a:lnTo>
                  <a:pt x="5467875" y="0"/>
                </a:lnTo>
                <a:cubicBezTo>
                  <a:pt x="5547737" y="0"/>
                  <a:pt x="5612477" y="64741"/>
                  <a:pt x="5612477" y="144603"/>
                </a:cubicBezTo>
                <a:lnTo>
                  <a:pt x="5612477" y="912821"/>
                </a:lnTo>
                <a:cubicBezTo>
                  <a:pt x="5612477" y="992629"/>
                  <a:pt x="5547683" y="1057423"/>
                  <a:pt x="5467875" y="1057423"/>
                </a:cubicBez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223998" y="2794829"/>
            <a:ext cx="36151" cy="1057423"/>
          </a:xfrm>
          <a:custGeom>
            <a:avLst/>
            <a:gdLst/>
            <a:ahLst/>
            <a:cxnLst/>
            <a:rect l="l" t="t" r="r" b="b"/>
            <a:pathLst>
              <a:path w="36151" h="1057423">
                <a:moveTo>
                  <a:pt x="36151" y="0"/>
                </a:moveTo>
                <a:lnTo>
                  <a:pt x="36151" y="0"/>
                </a:lnTo>
                <a:lnTo>
                  <a:pt x="36151" y="1057423"/>
                </a:ln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458981" y="3011736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404754" y="3011736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45854" y="3011736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O - Operar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45854" y="3373135"/>
            <a:ext cx="4555054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Publicación del informe y dashboard interactivo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23998" y="4035154"/>
            <a:ext cx="5612477" cy="1057423"/>
          </a:xfrm>
          <a:custGeom>
            <a:avLst/>
            <a:gdLst/>
            <a:ahLst/>
            <a:cxnLst/>
            <a:rect l="l" t="t" r="r" b="b"/>
            <a:pathLst>
              <a:path w="5612477" h="1057423">
                <a:moveTo>
                  <a:pt x="36151" y="0"/>
                </a:moveTo>
                <a:lnTo>
                  <a:pt x="5467875" y="0"/>
                </a:lnTo>
                <a:cubicBezTo>
                  <a:pt x="5547737" y="0"/>
                  <a:pt x="5612477" y="64741"/>
                  <a:pt x="5612477" y="144603"/>
                </a:cubicBezTo>
                <a:lnTo>
                  <a:pt x="5612477" y="912821"/>
                </a:lnTo>
                <a:cubicBezTo>
                  <a:pt x="5612477" y="992629"/>
                  <a:pt x="5547683" y="1057423"/>
                  <a:pt x="5467875" y="1057423"/>
                </a:cubicBez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6223998" y="4035154"/>
            <a:ext cx="36151" cy="1057423"/>
          </a:xfrm>
          <a:custGeom>
            <a:avLst/>
            <a:gdLst/>
            <a:ahLst/>
            <a:cxnLst/>
            <a:rect l="l" t="t" r="r" b="b"/>
            <a:pathLst>
              <a:path w="36151" h="1057423">
                <a:moveTo>
                  <a:pt x="36151" y="0"/>
                </a:moveTo>
                <a:lnTo>
                  <a:pt x="36151" y="0"/>
                </a:lnTo>
                <a:lnTo>
                  <a:pt x="36151" y="1057423"/>
                </a:ln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6458981" y="4252061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404754" y="4252061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45854" y="4252061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Hallazgos Principales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45854" y="4613461"/>
            <a:ext cx="4555054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Descubrimientos clave del análisis de 1.6M+ registros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23998" y="5275480"/>
            <a:ext cx="5612477" cy="1057423"/>
          </a:xfrm>
          <a:custGeom>
            <a:avLst/>
            <a:gdLst/>
            <a:ahLst/>
            <a:cxnLst/>
            <a:rect l="l" t="t" r="r" b="b"/>
            <a:pathLst>
              <a:path w="5612477" h="1057423">
                <a:moveTo>
                  <a:pt x="36151" y="0"/>
                </a:moveTo>
                <a:lnTo>
                  <a:pt x="5467875" y="0"/>
                </a:lnTo>
                <a:cubicBezTo>
                  <a:pt x="5547737" y="0"/>
                  <a:pt x="5612477" y="64741"/>
                  <a:pt x="5612477" y="144603"/>
                </a:cubicBezTo>
                <a:lnTo>
                  <a:pt x="5612477" y="912821"/>
                </a:lnTo>
                <a:cubicBezTo>
                  <a:pt x="5612477" y="992629"/>
                  <a:pt x="5547683" y="1057423"/>
                  <a:pt x="5467875" y="1057423"/>
                </a:cubicBez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567" dist="9037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6223998" y="5275480"/>
            <a:ext cx="36151" cy="1057423"/>
          </a:xfrm>
          <a:custGeom>
            <a:avLst/>
            <a:gdLst/>
            <a:ahLst/>
            <a:cxnLst/>
            <a:rect l="l" t="t" r="r" b="b"/>
            <a:pathLst>
              <a:path w="36151" h="1057423">
                <a:moveTo>
                  <a:pt x="36151" y="0"/>
                </a:moveTo>
                <a:lnTo>
                  <a:pt x="36151" y="0"/>
                </a:lnTo>
                <a:lnTo>
                  <a:pt x="36151" y="1057423"/>
                </a:lnTo>
                <a:lnTo>
                  <a:pt x="36151" y="1057423"/>
                </a:lnTo>
                <a:cubicBezTo>
                  <a:pt x="16185" y="1057423"/>
                  <a:pt x="0" y="1041238"/>
                  <a:pt x="0" y="1021272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6458981" y="5492388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108456" y="0"/>
                </a:moveTo>
                <a:lnTo>
                  <a:pt x="397661" y="0"/>
                </a:lnTo>
                <a:cubicBezTo>
                  <a:pt x="457520" y="0"/>
                  <a:pt x="506117" y="48597"/>
                  <a:pt x="506117" y="108456"/>
                </a:cubicBezTo>
                <a:lnTo>
                  <a:pt x="506117" y="397661"/>
                </a:lnTo>
                <a:cubicBezTo>
                  <a:pt x="506117" y="457520"/>
                  <a:pt x="457520" y="506117"/>
                  <a:pt x="397661" y="506117"/>
                </a:cubicBezTo>
                <a:lnTo>
                  <a:pt x="108456" y="506117"/>
                </a:lnTo>
                <a:cubicBezTo>
                  <a:pt x="48597" y="506117"/>
                  <a:pt x="0" y="457520"/>
                  <a:pt x="0" y="397661"/>
                </a:cubicBezTo>
                <a:lnTo>
                  <a:pt x="0" y="108456"/>
                </a:lnTo>
                <a:cubicBezTo>
                  <a:pt x="0" y="48597"/>
                  <a:pt x="48597" y="0"/>
                  <a:pt x="108456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6404754" y="5492388"/>
            <a:ext cx="614571" cy="50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45854" y="5492388"/>
            <a:ext cx="4582168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Reflexiones y Aprendizajes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45854" y="5853787"/>
            <a:ext cx="4555054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Competencias desarrolladas y conclusiones del proyecto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GENERAL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603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y Alcance del Proyecto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79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Proyecto de análisis de datos masivos aplicando metodología estructurada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492250"/>
            <a:ext cx="7643813" cy="2103438"/>
          </a:xfrm>
          <a:custGeom>
            <a:avLst/>
            <a:gdLst/>
            <a:ahLst/>
            <a:cxnLst/>
            <a:rect l="l" t="t" r="r" b="b"/>
            <a:pathLst>
              <a:path w="7643813" h="2103438">
                <a:moveTo>
                  <a:pt x="127006" y="0"/>
                </a:moveTo>
                <a:lnTo>
                  <a:pt x="7516807" y="0"/>
                </a:lnTo>
                <a:cubicBezTo>
                  <a:pt x="7586950" y="0"/>
                  <a:pt x="7643813" y="56862"/>
                  <a:pt x="7643813" y="127006"/>
                </a:cubicBezTo>
                <a:lnTo>
                  <a:pt x="7643813" y="1976432"/>
                </a:lnTo>
                <a:cubicBezTo>
                  <a:pt x="7643813" y="2046575"/>
                  <a:pt x="7586950" y="2103438"/>
                  <a:pt x="7516807" y="2103438"/>
                </a:cubicBezTo>
                <a:lnTo>
                  <a:pt x="127006" y="2103438"/>
                </a:lnTo>
                <a:cubicBezTo>
                  <a:pt x="56862" y="2103438"/>
                  <a:pt x="0" y="2046575"/>
                  <a:pt x="0" y="1976432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08000" y="168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15156" y="1778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16000" y="1746250"/>
            <a:ext cx="1539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Fuente de Datos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7844" y="22225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81844" y="2190750"/>
            <a:ext cx="342106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Dataset:</a:t>
            </a:r>
            <a:r>
              <a:rPr lang="en-US" sz="1125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Casos positivos de COVID-19 en Colombia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7844" y="2549922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81844" y="2518172"/>
            <a:ext cx="4222750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Publicador:</a:t>
            </a:r>
            <a:r>
              <a:rPr lang="en-US" sz="1125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Instituto Nacional de Salud (INS) - Sistema SIVIGILA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7844" y="287734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81844" y="2845594"/>
            <a:ext cx="5476875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Volumen:</a:t>
            </a:r>
            <a:r>
              <a:rPr lang="en-US" sz="1125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1,597,743 registros con 23 variables demográficas, geográficas y clínicas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7844" y="320476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81844" y="3173016"/>
            <a:ext cx="445293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Acceso:</a:t>
            </a:r>
            <a:r>
              <a:rPr lang="en-US" sz="1125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Portal datos.gov.co en formato CSV con licencia educativa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7500" y="3754438"/>
            <a:ext cx="7643813" cy="1206500"/>
          </a:xfrm>
          <a:custGeom>
            <a:avLst/>
            <a:gdLst/>
            <a:ahLst/>
            <a:cxnLst/>
            <a:rect l="l" t="t" r="r" b="b"/>
            <a:pathLst>
              <a:path w="7643813" h="1206500">
                <a:moveTo>
                  <a:pt x="126996" y="0"/>
                </a:moveTo>
                <a:lnTo>
                  <a:pt x="7516816" y="0"/>
                </a:lnTo>
                <a:cubicBezTo>
                  <a:pt x="7586954" y="0"/>
                  <a:pt x="7643813" y="56858"/>
                  <a:pt x="7643813" y="126996"/>
                </a:cubicBezTo>
                <a:lnTo>
                  <a:pt x="7643813" y="1079504"/>
                </a:lnTo>
                <a:cubicBezTo>
                  <a:pt x="7643813" y="1149642"/>
                  <a:pt x="7586954" y="1206500"/>
                  <a:pt x="7516816" y="1206500"/>
                </a:cubicBezTo>
                <a:lnTo>
                  <a:pt x="126996" y="1206500"/>
                </a:lnTo>
                <a:cubicBezTo>
                  <a:pt x="56858" y="1206500"/>
                  <a:pt x="0" y="1149642"/>
                  <a:pt x="0" y="1079504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08000" y="394493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91344" y="40401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16000" y="4008438"/>
            <a:ext cx="1698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Stack Tecnológico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4452938"/>
            <a:ext cx="1198563" cy="317500"/>
          </a:xfrm>
          <a:custGeom>
            <a:avLst/>
            <a:gdLst/>
            <a:ahLst/>
            <a:cxnLst/>
            <a:rect l="l" t="t" r="r" b="b"/>
            <a:pathLst>
              <a:path w="1198563" h="317500">
                <a:moveTo>
                  <a:pt x="63500" y="0"/>
                </a:moveTo>
                <a:lnTo>
                  <a:pt x="1135063" y="0"/>
                </a:lnTo>
                <a:cubicBezTo>
                  <a:pt x="1170109" y="0"/>
                  <a:pt x="1198563" y="28453"/>
                  <a:pt x="1198563" y="63500"/>
                </a:cubicBezTo>
                <a:lnTo>
                  <a:pt x="1198563" y="254000"/>
                </a:lnTo>
                <a:cubicBezTo>
                  <a:pt x="1198563" y="289047"/>
                  <a:pt x="1170109" y="317500"/>
                  <a:pt x="11350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08000" y="4452938"/>
            <a:ext cx="1262063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Fabric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05087" y="4452938"/>
            <a:ext cx="777875" cy="317500"/>
          </a:xfrm>
          <a:custGeom>
            <a:avLst/>
            <a:gdLst/>
            <a:ahLst/>
            <a:cxnLst/>
            <a:rect l="l" t="t" r="r" b="b"/>
            <a:pathLst>
              <a:path w="777875" h="317500">
                <a:moveTo>
                  <a:pt x="63500" y="0"/>
                </a:moveTo>
                <a:lnTo>
                  <a:pt x="714375" y="0"/>
                </a:lnTo>
                <a:cubicBezTo>
                  <a:pt x="749422" y="0"/>
                  <a:pt x="777875" y="28453"/>
                  <a:pt x="777875" y="63500"/>
                </a:cubicBezTo>
                <a:lnTo>
                  <a:pt x="777875" y="254000"/>
                </a:lnTo>
                <a:cubicBezTo>
                  <a:pt x="777875" y="289047"/>
                  <a:pt x="749422" y="317500"/>
                  <a:pt x="714375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805087" y="4452938"/>
            <a:ext cx="841375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74441" y="4452938"/>
            <a:ext cx="1119188" cy="317500"/>
          </a:xfrm>
          <a:custGeom>
            <a:avLst/>
            <a:gdLst/>
            <a:ahLst/>
            <a:cxnLst/>
            <a:rect l="l" t="t" r="r" b="b"/>
            <a:pathLst>
              <a:path w="1119188" h="317500">
                <a:moveTo>
                  <a:pt x="63500" y="0"/>
                </a:moveTo>
                <a:lnTo>
                  <a:pt x="1055688" y="0"/>
                </a:lnTo>
                <a:cubicBezTo>
                  <a:pt x="1090734" y="0"/>
                  <a:pt x="1119188" y="28453"/>
                  <a:pt x="1119188" y="63500"/>
                </a:cubicBezTo>
                <a:lnTo>
                  <a:pt x="1119188" y="254000"/>
                </a:lnTo>
                <a:cubicBezTo>
                  <a:pt x="1119188" y="289047"/>
                  <a:pt x="1090734" y="317500"/>
                  <a:pt x="105568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674441" y="4452938"/>
            <a:ext cx="1182688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Dataflow Gen2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90863" y="4452938"/>
            <a:ext cx="881063" cy="317500"/>
          </a:xfrm>
          <a:custGeom>
            <a:avLst/>
            <a:gdLst/>
            <a:ahLst/>
            <a:cxnLst/>
            <a:rect l="l" t="t" r="r" b="b"/>
            <a:pathLst>
              <a:path w="881063" h="317500">
                <a:moveTo>
                  <a:pt x="63500" y="0"/>
                </a:moveTo>
                <a:lnTo>
                  <a:pt x="817563" y="0"/>
                </a:lnTo>
                <a:cubicBezTo>
                  <a:pt x="852609" y="0"/>
                  <a:pt x="881063" y="28453"/>
                  <a:pt x="881063" y="63500"/>
                </a:cubicBezTo>
                <a:lnTo>
                  <a:pt x="881063" y="254000"/>
                </a:lnTo>
                <a:cubicBezTo>
                  <a:pt x="881063" y="289047"/>
                  <a:pt x="852609" y="317500"/>
                  <a:pt x="81756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890863" y="4452938"/>
            <a:ext cx="944563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Lakehouse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63604" y="4452938"/>
            <a:ext cx="508000" cy="317500"/>
          </a:xfrm>
          <a:custGeom>
            <a:avLst/>
            <a:gdLst/>
            <a:ahLst/>
            <a:cxnLst/>
            <a:rect l="l" t="t" r="r" b="b"/>
            <a:pathLst>
              <a:path w="508000" h="3175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254000"/>
                </a:lnTo>
                <a:cubicBezTo>
                  <a:pt x="508000" y="289047"/>
                  <a:pt x="479547" y="317500"/>
                  <a:pt x="4445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63604" y="4452938"/>
            <a:ext cx="571500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DAX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69732" y="4452938"/>
            <a:ext cx="1016000" cy="317500"/>
          </a:xfrm>
          <a:custGeom>
            <a:avLst/>
            <a:gdLst/>
            <a:ahLst/>
            <a:cxnLst/>
            <a:rect l="l" t="t" r="r" b="b"/>
            <a:pathLst>
              <a:path w="1016000" h="317500">
                <a:moveTo>
                  <a:pt x="63500" y="0"/>
                </a:moveTo>
                <a:lnTo>
                  <a:pt x="952500" y="0"/>
                </a:lnTo>
                <a:cubicBezTo>
                  <a:pt x="987547" y="0"/>
                  <a:pt x="1016000" y="28453"/>
                  <a:pt x="1016000" y="63500"/>
                </a:cubicBezTo>
                <a:lnTo>
                  <a:pt x="1016000" y="254000"/>
                </a:lnTo>
                <a:cubicBezTo>
                  <a:pt x="1016000" y="289047"/>
                  <a:pt x="987547" y="317500"/>
                  <a:pt x="9525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469732" y="4452938"/>
            <a:ext cx="1079500" cy="31750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49133" y="1492250"/>
            <a:ext cx="3722688" cy="3206750"/>
          </a:xfrm>
          <a:custGeom>
            <a:avLst/>
            <a:gdLst/>
            <a:ahLst/>
            <a:cxnLst/>
            <a:rect l="l" t="t" r="r" b="b"/>
            <a:pathLst>
              <a:path w="3722688" h="3206750">
                <a:moveTo>
                  <a:pt x="126987" y="0"/>
                </a:moveTo>
                <a:lnTo>
                  <a:pt x="3595700" y="0"/>
                </a:lnTo>
                <a:cubicBezTo>
                  <a:pt x="3665833" y="0"/>
                  <a:pt x="3722688" y="56854"/>
                  <a:pt x="3722688" y="126987"/>
                </a:cubicBezTo>
                <a:lnTo>
                  <a:pt x="3722688" y="3079763"/>
                </a:lnTo>
                <a:cubicBezTo>
                  <a:pt x="3722687" y="3149896"/>
                  <a:pt x="3665833" y="3206750"/>
                  <a:pt x="3595700" y="3206750"/>
                </a:cubicBezTo>
                <a:lnTo>
                  <a:pt x="126987" y="3206750"/>
                </a:lnTo>
                <a:cubicBezTo>
                  <a:pt x="56854" y="3206750"/>
                  <a:pt x="0" y="3149896"/>
                  <a:pt x="0" y="307976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8363446" y="17144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577758" y="1682750"/>
            <a:ext cx="3198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Alcance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39633" y="2095401"/>
            <a:ext cx="3341688" cy="762000"/>
          </a:xfrm>
          <a:custGeom>
            <a:avLst/>
            <a:gdLst/>
            <a:ahLst/>
            <a:cxnLst/>
            <a:rect l="l" t="t" r="r" b="b"/>
            <a:pathLst>
              <a:path w="3341688" h="762000">
                <a:moveTo>
                  <a:pt x="95250" y="0"/>
                </a:moveTo>
                <a:lnTo>
                  <a:pt x="3246438" y="0"/>
                </a:lnTo>
                <a:cubicBezTo>
                  <a:pt x="3299007" y="0"/>
                  <a:pt x="3341688" y="42680"/>
                  <a:pt x="3341688" y="95250"/>
                </a:cubicBezTo>
                <a:lnTo>
                  <a:pt x="3341688" y="666750"/>
                </a:lnTo>
                <a:cubicBezTo>
                  <a:pt x="3341688" y="719320"/>
                  <a:pt x="3299007" y="762000"/>
                  <a:pt x="3246438" y="762000"/>
                </a:cubicBezTo>
                <a:lnTo>
                  <a:pt x="95250" y="762000"/>
                </a:lnTo>
                <a:cubicBezTo>
                  <a:pt x="42680" y="762000"/>
                  <a:pt x="0" y="719320"/>
                  <a:pt x="0" y="666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8466633" y="2222401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Duración Estimada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66633" y="2444651"/>
            <a:ext cx="320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13-15 horas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39633" y="2984401"/>
            <a:ext cx="3341688" cy="698500"/>
          </a:xfrm>
          <a:custGeom>
            <a:avLst/>
            <a:gdLst/>
            <a:ahLst/>
            <a:cxnLst/>
            <a:rect l="l" t="t" r="r" b="b"/>
            <a:pathLst>
              <a:path w="3341688" h="698500">
                <a:moveTo>
                  <a:pt x="95247" y="0"/>
                </a:moveTo>
                <a:lnTo>
                  <a:pt x="3246440" y="0"/>
                </a:lnTo>
                <a:cubicBezTo>
                  <a:pt x="3299044" y="0"/>
                  <a:pt x="3341688" y="42644"/>
                  <a:pt x="3341688" y="95247"/>
                </a:cubicBezTo>
                <a:lnTo>
                  <a:pt x="3341688" y="603253"/>
                </a:lnTo>
                <a:cubicBezTo>
                  <a:pt x="3341688" y="655856"/>
                  <a:pt x="3299044" y="698500"/>
                  <a:pt x="324644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8466633" y="3111401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Workspace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66633" y="3333651"/>
            <a:ext cx="316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lh_covid19_colombia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39633" y="3809901"/>
            <a:ext cx="3341688" cy="698500"/>
          </a:xfrm>
          <a:custGeom>
            <a:avLst/>
            <a:gdLst/>
            <a:ahLst/>
            <a:cxnLst/>
            <a:rect l="l" t="t" r="r" b="b"/>
            <a:pathLst>
              <a:path w="3341688" h="698500">
                <a:moveTo>
                  <a:pt x="95247" y="0"/>
                </a:moveTo>
                <a:lnTo>
                  <a:pt x="3246440" y="0"/>
                </a:lnTo>
                <a:cubicBezTo>
                  <a:pt x="3299044" y="0"/>
                  <a:pt x="3341688" y="42644"/>
                  <a:pt x="3341688" y="95247"/>
                </a:cubicBezTo>
                <a:lnTo>
                  <a:pt x="3341688" y="603253"/>
                </a:lnTo>
                <a:cubicBezTo>
                  <a:pt x="3341688" y="655856"/>
                  <a:pt x="3299044" y="698500"/>
                  <a:pt x="324644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8466633" y="3936901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Metodología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66633" y="4159151"/>
            <a:ext cx="316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ABP + CDIO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49133" y="4857651"/>
            <a:ext cx="3722688" cy="2032000"/>
          </a:xfrm>
          <a:custGeom>
            <a:avLst/>
            <a:gdLst/>
            <a:ahLst/>
            <a:cxnLst/>
            <a:rect l="l" t="t" r="r" b="b"/>
            <a:pathLst>
              <a:path w="3722688" h="2032000">
                <a:moveTo>
                  <a:pt x="127000" y="0"/>
                </a:moveTo>
                <a:lnTo>
                  <a:pt x="3595688" y="0"/>
                </a:lnTo>
                <a:cubicBezTo>
                  <a:pt x="3665781" y="0"/>
                  <a:pt x="3722688" y="56907"/>
                  <a:pt x="3722688" y="127000"/>
                </a:cubicBezTo>
                <a:lnTo>
                  <a:pt x="3722688" y="1905000"/>
                </a:lnTo>
                <a:cubicBezTo>
                  <a:pt x="3722688" y="1975093"/>
                  <a:pt x="3665781" y="2032000"/>
                  <a:pt x="3595688" y="2032000"/>
                </a:cubicBezTo>
                <a:lnTo>
                  <a:pt x="127000" y="2032000"/>
                </a:lnTo>
                <a:cubicBezTo>
                  <a:pt x="56907" y="2032000"/>
                  <a:pt x="0" y="1975093"/>
                  <a:pt x="0" y="1905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8339633" y="5048151"/>
            <a:ext cx="342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de Calidad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39633" y="53974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8311852" y="539740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88883" y="5429151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&gt;1,000 registros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39633" y="57466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8311852" y="574665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88883" y="5778401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 variables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39633" y="60959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8311852" y="609590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88883" y="6127651"/>
            <a:ext cx="84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Formato CSV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39633" y="64451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8311852" y="644515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88883" y="6476901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Licencia educativa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42" y="333342"/>
            <a:ext cx="1160031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kern="0" spc="59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PREGUNTAS DIRECTRICES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342" y="633351"/>
            <a:ext cx="11725321" cy="400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Tres Preguntas Analíticas Centrales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342" y="1133364"/>
            <a:ext cx="11608651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decisión técnica validada contra estas preguntas fundamentales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0010" y="1566710"/>
            <a:ext cx="11508648" cy="1650045"/>
          </a:xfrm>
          <a:custGeom>
            <a:avLst/>
            <a:gdLst/>
            <a:ahLst/>
            <a:cxnLst/>
            <a:rect l="l" t="t" r="r" b="b"/>
            <a:pathLst>
              <a:path w="11508648" h="1650045">
                <a:moveTo>
                  <a:pt x="33334" y="0"/>
                </a:moveTo>
                <a:lnTo>
                  <a:pt x="11375308" y="0"/>
                </a:lnTo>
                <a:cubicBezTo>
                  <a:pt x="11448950" y="0"/>
                  <a:pt x="11508648" y="59698"/>
                  <a:pt x="11508648" y="133340"/>
                </a:cubicBezTo>
                <a:lnTo>
                  <a:pt x="11508648" y="1516705"/>
                </a:lnTo>
                <a:cubicBezTo>
                  <a:pt x="11508648" y="1590347"/>
                  <a:pt x="11448950" y="1650045"/>
                  <a:pt x="11375308" y="1650045"/>
                </a:cubicBezTo>
                <a:lnTo>
                  <a:pt x="33334" y="1650045"/>
                </a:lnTo>
                <a:cubicBezTo>
                  <a:pt x="14924" y="1650045"/>
                  <a:pt x="0" y="1635121"/>
                  <a:pt x="0" y="1616711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003" dist="8333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50010" y="1566710"/>
            <a:ext cx="33334" cy="1650045"/>
          </a:xfrm>
          <a:custGeom>
            <a:avLst/>
            <a:gdLst/>
            <a:ahLst/>
            <a:cxnLst/>
            <a:rect l="l" t="t" r="r" b="b"/>
            <a:pathLst>
              <a:path w="33334" h="1650045">
                <a:moveTo>
                  <a:pt x="33334" y="0"/>
                </a:moveTo>
                <a:lnTo>
                  <a:pt x="33334" y="0"/>
                </a:lnTo>
                <a:lnTo>
                  <a:pt x="33334" y="1650045"/>
                </a:lnTo>
                <a:lnTo>
                  <a:pt x="33334" y="1650045"/>
                </a:lnTo>
                <a:cubicBezTo>
                  <a:pt x="14924" y="1650045"/>
                  <a:pt x="0" y="1635121"/>
                  <a:pt x="0" y="1616711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66682" y="1766715"/>
            <a:ext cx="533348" cy="533348"/>
          </a:xfrm>
          <a:custGeom>
            <a:avLst/>
            <a:gdLst/>
            <a:ahLst/>
            <a:cxnLst/>
            <a:rect l="l" t="t" r="r" b="b"/>
            <a:pathLst>
              <a:path w="533348" h="533348">
                <a:moveTo>
                  <a:pt x="133337" y="0"/>
                </a:moveTo>
                <a:lnTo>
                  <a:pt x="400011" y="0"/>
                </a:lnTo>
                <a:cubicBezTo>
                  <a:pt x="473651" y="0"/>
                  <a:pt x="533348" y="59697"/>
                  <a:pt x="533348" y="133337"/>
                </a:cubicBezTo>
                <a:lnTo>
                  <a:pt x="533348" y="400011"/>
                </a:lnTo>
                <a:cubicBezTo>
                  <a:pt x="533348" y="473651"/>
                  <a:pt x="473651" y="533348"/>
                  <a:pt x="400011" y="533348"/>
                </a:cubicBezTo>
                <a:lnTo>
                  <a:pt x="133337" y="533348"/>
                </a:lnTo>
                <a:cubicBezTo>
                  <a:pt x="59697" y="533348"/>
                  <a:pt x="0" y="473651"/>
                  <a:pt x="0" y="400011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/>
              </a:gs>
              <a:gs pos="100000">
                <a:srgbClr val="14B8A6"/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4180" y="1766715"/>
            <a:ext cx="658351" cy="533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701" y="1766715"/>
            <a:ext cx="10491954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Geográfica y Evolución Temporal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6701" y="2153288"/>
            <a:ext cx="10428827" cy="437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¿Cuál es la distribución geográfica de los casos positivos de COVID-19 en Colombia por departamento y municipio, y cuál fue la evolución temporal de la pandemia?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6701" y="2754138"/>
            <a:ext cx="1391705" cy="266674"/>
          </a:xfrm>
          <a:custGeom>
            <a:avLst/>
            <a:gdLst/>
            <a:ahLst/>
            <a:cxnLst/>
            <a:rect l="l" t="t" r="r" b="b"/>
            <a:pathLst>
              <a:path w="1391705" h="266674">
                <a:moveTo>
                  <a:pt x="133337" y="0"/>
                </a:moveTo>
                <a:lnTo>
                  <a:pt x="1258368" y="0"/>
                </a:lnTo>
                <a:cubicBezTo>
                  <a:pt x="1332008" y="0"/>
                  <a:pt x="1391705" y="59697"/>
                  <a:pt x="1391705" y="133337"/>
                </a:cubicBezTo>
                <a:lnTo>
                  <a:pt x="1391705" y="133337"/>
                </a:lnTo>
                <a:cubicBezTo>
                  <a:pt x="1391705" y="206977"/>
                  <a:pt x="1332008" y="266674"/>
                  <a:pt x="1258368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266701" y="2754138"/>
            <a:ext cx="1458373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D94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Mapas coropléticos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21845" y="2754138"/>
            <a:ext cx="1241701" cy="266674"/>
          </a:xfrm>
          <a:custGeom>
            <a:avLst/>
            <a:gdLst/>
            <a:ahLst/>
            <a:cxnLst/>
            <a:rect l="l" t="t" r="r" b="b"/>
            <a:pathLst>
              <a:path w="1241701" h="266674">
                <a:moveTo>
                  <a:pt x="133337" y="0"/>
                </a:moveTo>
                <a:lnTo>
                  <a:pt x="1108364" y="0"/>
                </a:lnTo>
                <a:cubicBezTo>
                  <a:pt x="1182004" y="0"/>
                  <a:pt x="1241701" y="59697"/>
                  <a:pt x="1241701" y="133337"/>
                </a:cubicBezTo>
                <a:lnTo>
                  <a:pt x="1241701" y="133337"/>
                </a:lnTo>
                <a:cubicBezTo>
                  <a:pt x="1241701" y="206977"/>
                  <a:pt x="1182004" y="266674"/>
                  <a:pt x="1108364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721845" y="2754138"/>
            <a:ext cx="1308369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D94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temporal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33756" y="2754138"/>
            <a:ext cx="1150031" cy="266674"/>
          </a:xfrm>
          <a:custGeom>
            <a:avLst/>
            <a:gdLst/>
            <a:ahLst/>
            <a:cxnLst/>
            <a:rect l="l" t="t" r="r" b="b"/>
            <a:pathLst>
              <a:path w="1150031" h="266674">
                <a:moveTo>
                  <a:pt x="133337" y="0"/>
                </a:moveTo>
                <a:lnTo>
                  <a:pt x="1016694" y="0"/>
                </a:lnTo>
                <a:cubicBezTo>
                  <a:pt x="1090334" y="0"/>
                  <a:pt x="1150031" y="59697"/>
                  <a:pt x="1150031" y="133337"/>
                </a:cubicBezTo>
                <a:lnTo>
                  <a:pt x="1150031" y="133337"/>
                </a:lnTo>
                <a:cubicBezTo>
                  <a:pt x="1150031" y="206977"/>
                  <a:pt x="1090334" y="266674"/>
                  <a:pt x="1016694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033756" y="2754138"/>
            <a:ext cx="1216700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D94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Departamentos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6914" y="2754138"/>
            <a:ext cx="858357" cy="266674"/>
          </a:xfrm>
          <a:custGeom>
            <a:avLst/>
            <a:gdLst/>
            <a:ahLst/>
            <a:cxnLst/>
            <a:rect l="l" t="t" r="r" b="b"/>
            <a:pathLst>
              <a:path w="858357" h="266674">
                <a:moveTo>
                  <a:pt x="133337" y="0"/>
                </a:moveTo>
                <a:lnTo>
                  <a:pt x="725020" y="0"/>
                </a:lnTo>
                <a:cubicBezTo>
                  <a:pt x="798660" y="0"/>
                  <a:pt x="858357" y="59697"/>
                  <a:pt x="858357" y="133337"/>
                </a:cubicBezTo>
                <a:lnTo>
                  <a:pt x="858357" y="133337"/>
                </a:lnTo>
                <a:cubicBezTo>
                  <a:pt x="858357" y="206977"/>
                  <a:pt x="798660" y="266674"/>
                  <a:pt x="725020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246914" y="2754138"/>
            <a:ext cx="925025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D94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Municipios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0010" y="3387489"/>
            <a:ext cx="11508648" cy="1408372"/>
          </a:xfrm>
          <a:custGeom>
            <a:avLst/>
            <a:gdLst/>
            <a:ahLst/>
            <a:cxnLst/>
            <a:rect l="l" t="t" r="r" b="b"/>
            <a:pathLst>
              <a:path w="11508648" h="1408372">
                <a:moveTo>
                  <a:pt x="33334" y="0"/>
                </a:moveTo>
                <a:lnTo>
                  <a:pt x="11375317" y="0"/>
                </a:lnTo>
                <a:cubicBezTo>
                  <a:pt x="11448954" y="0"/>
                  <a:pt x="11508648" y="59694"/>
                  <a:pt x="11508648" y="133331"/>
                </a:cubicBezTo>
                <a:lnTo>
                  <a:pt x="11508648" y="1275041"/>
                </a:lnTo>
                <a:cubicBezTo>
                  <a:pt x="11508648" y="1348678"/>
                  <a:pt x="11448954" y="1408372"/>
                  <a:pt x="11375317" y="1408372"/>
                </a:cubicBezTo>
                <a:lnTo>
                  <a:pt x="33334" y="1408372"/>
                </a:lnTo>
                <a:cubicBezTo>
                  <a:pt x="14924" y="1408372"/>
                  <a:pt x="0" y="1393448"/>
                  <a:pt x="0" y="1375038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003" dist="8333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50010" y="3387489"/>
            <a:ext cx="33334" cy="1408372"/>
          </a:xfrm>
          <a:custGeom>
            <a:avLst/>
            <a:gdLst/>
            <a:ahLst/>
            <a:cxnLst/>
            <a:rect l="l" t="t" r="r" b="b"/>
            <a:pathLst>
              <a:path w="33334" h="1408372">
                <a:moveTo>
                  <a:pt x="33334" y="0"/>
                </a:moveTo>
                <a:lnTo>
                  <a:pt x="33334" y="0"/>
                </a:lnTo>
                <a:lnTo>
                  <a:pt x="33334" y="1408372"/>
                </a:lnTo>
                <a:lnTo>
                  <a:pt x="33334" y="1408372"/>
                </a:lnTo>
                <a:cubicBezTo>
                  <a:pt x="14924" y="1408372"/>
                  <a:pt x="0" y="1393448"/>
                  <a:pt x="0" y="1375038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66682" y="3587494"/>
            <a:ext cx="533348" cy="533348"/>
          </a:xfrm>
          <a:custGeom>
            <a:avLst/>
            <a:gdLst/>
            <a:ahLst/>
            <a:cxnLst/>
            <a:rect l="l" t="t" r="r" b="b"/>
            <a:pathLst>
              <a:path w="533348" h="533348">
                <a:moveTo>
                  <a:pt x="133337" y="0"/>
                </a:moveTo>
                <a:lnTo>
                  <a:pt x="400011" y="0"/>
                </a:lnTo>
                <a:cubicBezTo>
                  <a:pt x="473651" y="0"/>
                  <a:pt x="533348" y="59697"/>
                  <a:pt x="533348" y="133337"/>
                </a:cubicBezTo>
                <a:lnTo>
                  <a:pt x="533348" y="400011"/>
                </a:lnTo>
                <a:cubicBezTo>
                  <a:pt x="533348" y="473651"/>
                  <a:pt x="473651" y="533348"/>
                  <a:pt x="400011" y="533348"/>
                </a:cubicBezTo>
                <a:lnTo>
                  <a:pt x="133337" y="533348"/>
                </a:lnTo>
                <a:cubicBezTo>
                  <a:pt x="59697" y="533348"/>
                  <a:pt x="0" y="473651"/>
                  <a:pt x="0" y="400011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04180" y="3587494"/>
            <a:ext cx="658351" cy="533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6701" y="3587494"/>
            <a:ext cx="10491954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Desenlace Clínico y Variables Demográficas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6701" y="3974067"/>
            <a:ext cx="9745684" cy="193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¿Cómo varió el desenlace clínico (Recuperado vs. Fallecido) según variables demográficas como edad, grupo etario, sexo y tipo de contagio?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66701" y="4331161"/>
            <a:ext cx="508347" cy="266674"/>
          </a:xfrm>
          <a:custGeom>
            <a:avLst/>
            <a:gdLst/>
            <a:ahLst/>
            <a:cxnLst/>
            <a:rect l="l" t="t" r="r" b="b"/>
            <a:pathLst>
              <a:path w="508347" h="266674">
                <a:moveTo>
                  <a:pt x="133337" y="0"/>
                </a:moveTo>
                <a:lnTo>
                  <a:pt x="375010" y="0"/>
                </a:lnTo>
                <a:cubicBezTo>
                  <a:pt x="448650" y="0"/>
                  <a:pt x="508347" y="59697"/>
                  <a:pt x="508347" y="133337"/>
                </a:cubicBezTo>
                <a:lnTo>
                  <a:pt x="508347" y="133337"/>
                </a:lnTo>
                <a:cubicBezTo>
                  <a:pt x="508347" y="206977"/>
                  <a:pt x="448650" y="266674"/>
                  <a:pt x="375010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266701" y="4331161"/>
            <a:ext cx="575016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D4E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843071" y="4331161"/>
            <a:ext cx="966693" cy="266674"/>
          </a:xfrm>
          <a:custGeom>
            <a:avLst/>
            <a:gdLst/>
            <a:ahLst/>
            <a:cxnLst/>
            <a:rect l="l" t="t" r="r" b="b"/>
            <a:pathLst>
              <a:path w="966693" h="266674">
                <a:moveTo>
                  <a:pt x="133337" y="0"/>
                </a:moveTo>
                <a:lnTo>
                  <a:pt x="833356" y="0"/>
                </a:lnTo>
                <a:cubicBezTo>
                  <a:pt x="906996" y="0"/>
                  <a:pt x="966693" y="59697"/>
                  <a:pt x="966693" y="133337"/>
                </a:cubicBezTo>
                <a:lnTo>
                  <a:pt x="966693" y="133337"/>
                </a:lnTo>
                <a:cubicBezTo>
                  <a:pt x="966693" y="206977"/>
                  <a:pt x="906996" y="266674"/>
                  <a:pt x="833356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843071" y="4331161"/>
            <a:ext cx="1033362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D4E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Grupo etario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879766" y="4331161"/>
            <a:ext cx="491680" cy="266674"/>
          </a:xfrm>
          <a:custGeom>
            <a:avLst/>
            <a:gdLst/>
            <a:ahLst/>
            <a:cxnLst/>
            <a:rect l="l" t="t" r="r" b="b"/>
            <a:pathLst>
              <a:path w="491680" h="266674">
                <a:moveTo>
                  <a:pt x="133337" y="0"/>
                </a:moveTo>
                <a:lnTo>
                  <a:pt x="358343" y="0"/>
                </a:lnTo>
                <a:cubicBezTo>
                  <a:pt x="431983" y="0"/>
                  <a:pt x="491680" y="59697"/>
                  <a:pt x="491680" y="133337"/>
                </a:cubicBezTo>
                <a:lnTo>
                  <a:pt x="491680" y="133337"/>
                </a:lnTo>
                <a:cubicBezTo>
                  <a:pt x="491680" y="206977"/>
                  <a:pt x="431983" y="266674"/>
                  <a:pt x="358343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879766" y="4331161"/>
            <a:ext cx="558349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D4E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Sexo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42073" y="4331161"/>
            <a:ext cx="1233367" cy="266674"/>
          </a:xfrm>
          <a:custGeom>
            <a:avLst/>
            <a:gdLst/>
            <a:ahLst/>
            <a:cxnLst/>
            <a:rect l="l" t="t" r="r" b="b"/>
            <a:pathLst>
              <a:path w="1233367" h="266674">
                <a:moveTo>
                  <a:pt x="133337" y="0"/>
                </a:moveTo>
                <a:lnTo>
                  <a:pt x="1100030" y="0"/>
                </a:lnTo>
                <a:cubicBezTo>
                  <a:pt x="1173670" y="0"/>
                  <a:pt x="1233367" y="59697"/>
                  <a:pt x="1233367" y="133337"/>
                </a:cubicBezTo>
                <a:lnTo>
                  <a:pt x="1233367" y="133337"/>
                </a:lnTo>
                <a:cubicBezTo>
                  <a:pt x="1233367" y="206977"/>
                  <a:pt x="1173670" y="266674"/>
                  <a:pt x="1100030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442073" y="4331161"/>
            <a:ext cx="1300036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1D4E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 de contagio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0010" y="4964512"/>
            <a:ext cx="11508648" cy="1650045"/>
          </a:xfrm>
          <a:custGeom>
            <a:avLst/>
            <a:gdLst/>
            <a:ahLst/>
            <a:cxnLst/>
            <a:rect l="l" t="t" r="r" b="b"/>
            <a:pathLst>
              <a:path w="11508648" h="1650045">
                <a:moveTo>
                  <a:pt x="33334" y="0"/>
                </a:moveTo>
                <a:lnTo>
                  <a:pt x="11375308" y="0"/>
                </a:lnTo>
                <a:cubicBezTo>
                  <a:pt x="11448950" y="0"/>
                  <a:pt x="11508648" y="59698"/>
                  <a:pt x="11508648" y="133340"/>
                </a:cubicBezTo>
                <a:lnTo>
                  <a:pt x="11508648" y="1516705"/>
                </a:lnTo>
                <a:cubicBezTo>
                  <a:pt x="11508648" y="1590347"/>
                  <a:pt x="11448950" y="1650045"/>
                  <a:pt x="11375308" y="1650045"/>
                </a:cubicBezTo>
                <a:lnTo>
                  <a:pt x="33334" y="1650045"/>
                </a:lnTo>
                <a:cubicBezTo>
                  <a:pt x="14924" y="1650045"/>
                  <a:pt x="0" y="1635121"/>
                  <a:pt x="0" y="1616711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003" dist="83336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50010" y="4964512"/>
            <a:ext cx="33334" cy="1650045"/>
          </a:xfrm>
          <a:custGeom>
            <a:avLst/>
            <a:gdLst/>
            <a:ahLst/>
            <a:cxnLst/>
            <a:rect l="l" t="t" r="r" b="b"/>
            <a:pathLst>
              <a:path w="33334" h="1650045">
                <a:moveTo>
                  <a:pt x="33334" y="0"/>
                </a:moveTo>
                <a:lnTo>
                  <a:pt x="33334" y="0"/>
                </a:lnTo>
                <a:lnTo>
                  <a:pt x="33334" y="1650045"/>
                </a:lnTo>
                <a:lnTo>
                  <a:pt x="33334" y="1650045"/>
                </a:lnTo>
                <a:cubicBezTo>
                  <a:pt x="14924" y="1650045"/>
                  <a:pt x="0" y="1635121"/>
                  <a:pt x="0" y="1616711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66682" y="5164517"/>
            <a:ext cx="533348" cy="533348"/>
          </a:xfrm>
          <a:custGeom>
            <a:avLst/>
            <a:gdLst/>
            <a:ahLst/>
            <a:cxnLst/>
            <a:rect l="l" t="t" r="r" b="b"/>
            <a:pathLst>
              <a:path w="533348" h="533348">
                <a:moveTo>
                  <a:pt x="133337" y="0"/>
                </a:moveTo>
                <a:lnTo>
                  <a:pt x="400011" y="0"/>
                </a:lnTo>
                <a:cubicBezTo>
                  <a:pt x="473651" y="0"/>
                  <a:pt x="533348" y="59697"/>
                  <a:pt x="533348" y="133337"/>
                </a:cubicBezTo>
                <a:lnTo>
                  <a:pt x="533348" y="400011"/>
                </a:lnTo>
                <a:cubicBezTo>
                  <a:pt x="533348" y="473651"/>
                  <a:pt x="473651" y="533348"/>
                  <a:pt x="400011" y="533348"/>
                </a:cubicBezTo>
                <a:lnTo>
                  <a:pt x="133337" y="533348"/>
                </a:lnTo>
                <a:cubicBezTo>
                  <a:pt x="59697" y="533348"/>
                  <a:pt x="0" y="473651"/>
                  <a:pt x="0" y="400011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7C3AED"/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04180" y="5164517"/>
            <a:ext cx="658351" cy="533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6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66701" y="5164517"/>
            <a:ext cx="10491954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de Riesgo Asociados a Mortalidad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66701" y="5551090"/>
            <a:ext cx="10249656" cy="437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factores de riesgo (edad, sexo, pertenencia étnica) se asocian estadísticamente con una mayor probabilidad de fallecimiento por COVID-19 en Colombia?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66701" y="6151940"/>
            <a:ext cx="1125031" cy="266674"/>
          </a:xfrm>
          <a:custGeom>
            <a:avLst/>
            <a:gdLst/>
            <a:ahLst/>
            <a:cxnLst/>
            <a:rect l="l" t="t" r="r" b="b"/>
            <a:pathLst>
              <a:path w="1125031" h="266674">
                <a:moveTo>
                  <a:pt x="133337" y="0"/>
                </a:moveTo>
                <a:lnTo>
                  <a:pt x="991694" y="0"/>
                </a:lnTo>
                <a:cubicBezTo>
                  <a:pt x="1065334" y="0"/>
                  <a:pt x="1125031" y="59697"/>
                  <a:pt x="1125031" y="133337"/>
                </a:cubicBezTo>
                <a:lnTo>
                  <a:pt x="1125031" y="133337"/>
                </a:lnTo>
                <a:cubicBezTo>
                  <a:pt x="1125031" y="206977"/>
                  <a:pt x="1065334" y="266674"/>
                  <a:pt x="991694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1266701" y="6151940"/>
            <a:ext cx="1191699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6D2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Edad avanzada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454651" y="6151940"/>
            <a:ext cx="491680" cy="266674"/>
          </a:xfrm>
          <a:custGeom>
            <a:avLst/>
            <a:gdLst/>
            <a:ahLst/>
            <a:cxnLst/>
            <a:rect l="l" t="t" r="r" b="b"/>
            <a:pathLst>
              <a:path w="491680" h="266674">
                <a:moveTo>
                  <a:pt x="133337" y="0"/>
                </a:moveTo>
                <a:lnTo>
                  <a:pt x="358343" y="0"/>
                </a:lnTo>
                <a:cubicBezTo>
                  <a:pt x="431983" y="0"/>
                  <a:pt x="491680" y="59697"/>
                  <a:pt x="491680" y="133337"/>
                </a:cubicBezTo>
                <a:lnTo>
                  <a:pt x="491680" y="133337"/>
                </a:lnTo>
                <a:cubicBezTo>
                  <a:pt x="491680" y="206977"/>
                  <a:pt x="431983" y="266674"/>
                  <a:pt x="358343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2454651" y="6151940"/>
            <a:ext cx="558349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6D2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Sexo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016957" y="6151940"/>
            <a:ext cx="1341703" cy="266674"/>
          </a:xfrm>
          <a:custGeom>
            <a:avLst/>
            <a:gdLst/>
            <a:ahLst/>
            <a:cxnLst/>
            <a:rect l="l" t="t" r="r" b="b"/>
            <a:pathLst>
              <a:path w="1341703" h="266674">
                <a:moveTo>
                  <a:pt x="133337" y="0"/>
                </a:moveTo>
                <a:lnTo>
                  <a:pt x="1208366" y="0"/>
                </a:lnTo>
                <a:cubicBezTo>
                  <a:pt x="1282006" y="0"/>
                  <a:pt x="1341703" y="59697"/>
                  <a:pt x="1341703" y="133337"/>
                </a:cubicBezTo>
                <a:lnTo>
                  <a:pt x="1341703" y="133337"/>
                </a:lnTo>
                <a:cubicBezTo>
                  <a:pt x="1341703" y="206977"/>
                  <a:pt x="1282006" y="266674"/>
                  <a:pt x="1208366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3016957" y="6151940"/>
            <a:ext cx="1408372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6D2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Pertenencia étnica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24600" y="6151940"/>
            <a:ext cx="1350037" cy="266674"/>
          </a:xfrm>
          <a:custGeom>
            <a:avLst/>
            <a:gdLst/>
            <a:ahLst/>
            <a:cxnLst/>
            <a:rect l="l" t="t" r="r" b="b"/>
            <a:pathLst>
              <a:path w="1350037" h="266674">
                <a:moveTo>
                  <a:pt x="133337" y="0"/>
                </a:moveTo>
                <a:lnTo>
                  <a:pt x="1216700" y="0"/>
                </a:lnTo>
                <a:cubicBezTo>
                  <a:pt x="1290340" y="0"/>
                  <a:pt x="1350037" y="59697"/>
                  <a:pt x="1350037" y="133337"/>
                </a:cubicBezTo>
                <a:lnTo>
                  <a:pt x="1350037" y="133337"/>
                </a:lnTo>
                <a:cubicBezTo>
                  <a:pt x="1350037" y="206977"/>
                  <a:pt x="1290340" y="266674"/>
                  <a:pt x="1216700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4424600" y="6151940"/>
            <a:ext cx="1416705" cy="266674"/>
          </a:xfrm>
          <a:prstGeom prst="rect">
            <a:avLst/>
          </a:prstGeom>
          <a:noFill/>
          <a:ln/>
        </p:spPr>
        <p:txBody>
          <a:bodyPr wrap="square" lIns="100003" tIns="33334" rIns="100003" bIns="33334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6D2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estadístico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METODOLÓGICO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603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Metodología ABP + CDIO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79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Basado en Problemas + Ciclo de Ingeniería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492250"/>
            <a:ext cx="5683250" cy="2913063"/>
          </a:xfrm>
          <a:custGeom>
            <a:avLst/>
            <a:gdLst/>
            <a:ahLst/>
            <a:cxnLst/>
            <a:rect l="l" t="t" r="r" b="b"/>
            <a:pathLst>
              <a:path w="5683250" h="2913063">
                <a:moveTo>
                  <a:pt x="127010" y="0"/>
                </a:moveTo>
                <a:lnTo>
                  <a:pt x="5556240" y="0"/>
                </a:lnTo>
                <a:cubicBezTo>
                  <a:pt x="5626386" y="0"/>
                  <a:pt x="5683250" y="56864"/>
                  <a:pt x="5683250" y="127010"/>
                </a:cubicBezTo>
                <a:lnTo>
                  <a:pt x="5683250" y="2786053"/>
                </a:lnTo>
                <a:cubicBezTo>
                  <a:pt x="5683250" y="2856198"/>
                  <a:pt x="5626386" y="2913062"/>
                  <a:pt x="5556240" y="2913063"/>
                </a:cubicBezTo>
                <a:lnTo>
                  <a:pt x="127010" y="2913063"/>
                </a:lnTo>
                <a:cubicBezTo>
                  <a:pt x="56864" y="2913063"/>
                  <a:pt x="0" y="2856198"/>
                  <a:pt x="0" y="2786053"/>
                </a:cubicBezTo>
                <a:lnTo>
                  <a:pt x="0" y="127010"/>
                </a:lnTo>
                <a:cubicBezTo>
                  <a:pt x="0" y="56911"/>
                  <a:pt x="56911" y="0"/>
                  <a:pt x="1270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08000" y="1682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58813" y="1809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79500" y="1762125"/>
            <a:ext cx="579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2286000"/>
            <a:ext cx="5373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Basado en Problemas</a:t>
            </a:r>
            <a:r>
              <a:rPr lang="en-US" sz="1125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Metodología educativa centrada en resolver problemas reales como motor del aprendizaje.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877344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63501" y="0"/>
                </a:moveTo>
                <a:lnTo>
                  <a:pt x="5238749" y="0"/>
                </a:lnTo>
                <a:cubicBezTo>
                  <a:pt x="5273820" y="0"/>
                  <a:pt x="5302250" y="28430"/>
                  <a:pt x="5302250" y="63501"/>
                </a:cubicBezTo>
                <a:lnTo>
                  <a:pt x="5302250" y="317499"/>
                </a:lnTo>
                <a:cubicBezTo>
                  <a:pt x="5302250" y="352570"/>
                  <a:pt x="5273820" y="381000"/>
                  <a:pt x="52387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23094" y="300434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0252" y="77744"/>
                </a:moveTo>
                <a:cubicBezTo>
                  <a:pt x="143740" y="74256"/>
                  <a:pt x="143740" y="68591"/>
                  <a:pt x="140252" y="65103"/>
                </a:cubicBezTo>
                <a:lnTo>
                  <a:pt x="95603" y="20455"/>
                </a:lnTo>
                <a:cubicBezTo>
                  <a:pt x="92115" y="16966"/>
                  <a:pt x="86451" y="16966"/>
                  <a:pt x="82962" y="20455"/>
                </a:cubicBezTo>
                <a:cubicBezTo>
                  <a:pt x="79474" y="23943"/>
                  <a:pt x="79474" y="29607"/>
                  <a:pt x="82962" y="33096"/>
                </a:cubicBezTo>
                <a:lnTo>
                  <a:pt x="112375" y="62508"/>
                </a:lnTo>
                <a:lnTo>
                  <a:pt x="8930" y="62508"/>
                </a:lnTo>
                <a:cubicBezTo>
                  <a:pt x="3990" y="62508"/>
                  <a:pt x="0" y="66498"/>
                  <a:pt x="0" y="71438"/>
                </a:cubicBezTo>
                <a:cubicBezTo>
                  <a:pt x="0" y="76377"/>
                  <a:pt x="3990" y="80367"/>
                  <a:pt x="8930" y="80367"/>
                </a:cubicBezTo>
                <a:lnTo>
                  <a:pt x="112375" y="80367"/>
                </a:lnTo>
                <a:lnTo>
                  <a:pt x="82962" y="109779"/>
                </a:lnTo>
                <a:cubicBezTo>
                  <a:pt x="79474" y="113268"/>
                  <a:pt x="79474" y="118932"/>
                  <a:pt x="82962" y="122420"/>
                </a:cubicBezTo>
                <a:cubicBezTo>
                  <a:pt x="86451" y="125909"/>
                  <a:pt x="92115" y="125909"/>
                  <a:pt x="95603" y="122420"/>
                </a:cubicBezTo>
                <a:lnTo>
                  <a:pt x="140252" y="7777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77094" y="2972594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 real: Análisis de datos COVID-19 en Colombia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3353594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63501" y="0"/>
                </a:moveTo>
                <a:lnTo>
                  <a:pt x="5238749" y="0"/>
                </a:lnTo>
                <a:cubicBezTo>
                  <a:pt x="5273820" y="0"/>
                  <a:pt x="5302250" y="28430"/>
                  <a:pt x="5302250" y="63501"/>
                </a:cubicBezTo>
                <a:lnTo>
                  <a:pt x="5302250" y="317499"/>
                </a:lnTo>
                <a:cubicBezTo>
                  <a:pt x="5302250" y="352570"/>
                  <a:pt x="5273820" y="381000"/>
                  <a:pt x="52387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23094" y="348059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0252" y="77744"/>
                </a:moveTo>
                <a:cubicBezTo>
                  <a:pt x="143740" y="74256"/>
                  <a:pt x="143740" y="68591"/>
                  <a:pt x="140252" y="65103"/>
                </a:cubicBezTo>
                <a:lnTo>
                  <a:pt x="95603" y="20455"/>
                </a:lnTo>
                <a:cubicBezTo>
                  <a:pt x="92115" y="16966"/>
                  <a:pt x="86451" y="16966"/>
                  <a:pt x="82962" y="20455"/>
                </a:cubicBezTo>
                <a:cubicBezTo>
                  <a:pt x="79474" y="23943"/>
                  <a:pt x="79474" y="29607"/>
                  <a:pt x="82962" y="33096"/>
                </a:cubicBezTo>
                <a:lnTo>
                  <a:pt x="112375" y="62508"/>
                </a:lnTo>
                <a:lnTo>
                  <a:pt x="8930" y="62508"/>
                </a:lnTo>
                <a:cubicBezTo>
                  <a:pt x="3990" y="62508"/>
                  <a:pt x="0" y="66498"/>
                  <a:pt x="0" y="71438"/>
                </a:cubicBezTo>
                <a:cubicBezTo>
                  <a:pt x="0" y="76377"/>
                  <a:pt x="3990" y="80367"/>
                  <a:pt x="8930" y="80367"/>
                </a:cubicBezTo>
                <a:lnTo>
                  <a:pt x="112375" y="80367"/>
                </a:lnTo>
                <a:lnTo>
                  <a:pt x="82962" y="109779"/>
                </a:lnTo>
                <a:cubicBezTo>
                  <a:pt x="79474" y="113268"/>
                  <a:pt x="79474" y="118932"/>
                  <a:pt x="82962" y="122420"/>
                </a:cubicBezTo>
                <a:cubicBezTo>
                  <a:pt x="86451" y="125909"/>
                  <a:pt x="92115" y="125909"/>
                  <a:pt x="95603" y="122420"/>
                </a:cubicBezTo>
                <a:lnTo>
                  <a:pt x="140252" y="7777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77094" y="3448844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activo mediante resolución de desafíos técnicos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" y="3829844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63501" y="0"/>
                </a:moveTo>
                <a:lnTo>
                  <a:pt x="5238749" y="0"/>
                </a:lnTo>
                <a:cubicBezTo>
                  <a:pt x="5273820" y="0"/>
                  <a:pt x="5302250" y="28430"/>
                  <a:pt x="5302250" y="63501"/>
                </a:cubicBezTo>
                <a:lnTo>
                  <a:pt x="5302250" y="317499"/>
                </a:lnTo>
                <a:cubicBezTo>
                  <a:pt x="5302250" y="352570"/>
                  <a:pt x="5273820" y="381000"/>
                  <a:pt x="52387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23094" y="395684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0252" y="77744"/>
                </a:moveTo>
                <a:cubicBezTo>
                  <a:pt x="143740" y="74256"/>
                  <a:pt x="143740" y="68591"/>
                  <a:pt x="140252" y="65103"/>
                </a:cubicBezTo>
                <a:lnTo>
                  <a:pt x="95603" y="20455"/>
                </a:lnTo>
                <a:cubicBezTo>
                  <a:pt x="92115" y="16966"/>
                  <a:pt x="86451" y="16966"/>
                  <a:pt x="82962" y="20455"/>
                </a:cubicBezTo>
                <a:cubicBezTo>
                  <a:pt x="79474" y="23943"/>
                  <a:pt x="79474" y="29607"/>
                  <a:pt x="82962" y="33096"/>
                </a:cubicBezTo>
                <a:lnTo>
                  <a:pt x="112375" y="62508"/>
                </a:lnTo>
                <a:lnTo>
                  <a:pt x="8930" y="62508"/>
                </a:lnTo>
                <a:cubicBezTo>
                  <a:pt x="3990" y="62508"/>
                  <a:pt x="0" y="66498"/>
                  <a:pt x="0" y="71438"/>
                </a:cubicBezTo>
                <a:cubicBezTo>
                  <a:pt x="0" y="76377"/>
                  <a:pt x="3990" y="80367"/>
                  <a:pt x="8930" y="80367"/>
                </a:cubicBezTo>
                <a:lnTo>
                  <a:pt x="112375" y="80367"/>
                </a:lnTo>
                <a:lnTo>
                  <a:pt x="82962" y="109779"/>
                </a:lnTo>
                <a:cubicBezTo>
                  <a:pt x="79474" y="113268"/>
                  <a:pt x="79474" y="118932"/>
                  <a:pt x="82962" y="122420"/>
                </a:cubicBezTo>
                <a:cubicBezTo>
                  <a:pt x="86451" y="125909"/>
                  <a:pt x="92115" y="125909"/>
                  <a:pt x="95603" y="122420"/>
                </a:cubicBezTo>
                <a:lnTo>
                  <a:pt x="140252" y="7777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77094" y="3925094"/>
            <a:ext cx="287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Desarrollo de competencias prácticas aplicables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7500" y="4560094"/>
            <a:ext cx="5683250" cy="2063750"/>
          </a:xfrm>
          <a:custGeom>
            <a:avLst/>
            <a:gdLst/>
            <a:ahLst/>
            <a:cxnLst/>
            <a:rect l="l" t="t" r="r" b="b"/>
            <a:pathLst>
              <a:path w="5683250" h="2063750">
                <a:moveTo>
                  <a:pt x="127003" y="0"/>
                </a:moveTo>
                <a:lnTo>
                  <a:pt x="5556247" y="0"/>
                </a:lnTo>
                <a:cubicBezTo>
                  <a:pt x="5626389" y="0"/>
                  <a:pt x="5683250" y="56861"/>
                  <a:pt x="5683250" y="127003"/>
                </a:cubicBezTo>
                <a:lnTo>
                  <a:pt x="5683250" y="1936747"/>
                </a:lnTo>
                <a:cubicBezTo>
                  <a:pt x="5683250" y="2006889"/>
                  <a:pt x="5626389" y="2063750"/>
                  <a:pt x="5556247" y="2063750"/>
                </a:cubicBezTo>
                <a:lnTo>
                  <a:pt x="127003" y="2063750"/>
                </a:lnTo>
                <a:cubicBezTo>
                  <a:pt x="56861" y="2063750"/>
                  <a:pt x="0" y="2006889"/>
                  <a:pt x="0" y="193674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19906" y="478224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46125" y="4750594"/>
            <a:ext cx="5159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Beneficios de la Integración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8000" y="513149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0219" y="513149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" y="5131495"/>
            <a:ext cx="3190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Proyecto real con estructura de ingeniería profesional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000" y="548074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0219" y="548074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7250" y="5480745"/>
            <a:ext cx="31511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fase CDIO responde a preguntas ABP definidas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00" y="582999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0219" y="582999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7250" y="5829995"/>
            <a:ext cx="2809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Documentación reflexiva del proceso completo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8000" y="617924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0219" y="6179247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7250" y="6179247"/>
            <a:ext cx="2198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 medibles y reproducibles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3156" y="821531"/>
            <a:ext cx="5683250" cy="5802313"/>
          </a:xfrm>
          <a:custGeom>
            <a:avLst/>
            <a:gdLst/>
            <a:ahLst/>
            <a:cxnLst/>
            <a:rect l="l" t="t" r="r" b="b"/>
            <a:pathLst>
              <a:path w="5683250" h="5802313">
                <a:moveTo>
                  <a:pt x="127021" y="0"/>
                </a:moveTo>
                <a:lnTo>
                  <a:pt x="5556229" y="0"/>
                </a:lnTo>
                <a:cubicBezTo>
                  <a:pt x="5626381" y="0"/>
                  <a:pt x="5683250" y="56869"/>
                  <a:pt x="5683250" y="127021"/>
                </a:cubicBezTo>
                <a:lnTo>
                  <a:pt x="5683250" y="5675292"/>
                </a:lnTo>
                <a:cubicBezTo>
                  <a:pt x="5683250" y="5745443"/>
                  <a:pt x="5626381" y="5802313"/>
                  <a:pt x="5556229" y="5802313"/>
                </a:cubicBezTo>
                <a:lnTo>
                  <a:pt x="127021" y="5802313"/>
                </a:lnTo>
                <a:cubicBezTo>
                  <a:pt x="56869" y="5802313"/>
                  <a:pt x="0" y="5745443"/>
                  <a:pt x="0" y="5675292"/>
                </a:cubicBezTo>
                <a:lnTo>
                  <a:pt x="0" y="127021"/>
                </a:lnTo>
                <a:cubicBezTo>
                  <a:pt x="0" y="56916"/>
                  <a:pt x="56916" y="0"/>
                  <a:pt x="12702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393656" y="1012031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520656" y="11390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965156" y="1091406"/>
            <a:ext cx="70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CDIO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3656" y="1615281"/>
            <a:ext cx="5373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Conceive-Design-Implement-Operate</a:t>
            </a:r>
            <a:r>
              <a:rPr lang="en-US" sz="1125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Ciclo de desarrollo de ingeniería estructurado en 4 fases.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9531" y="2238375"/>
            <a:ext cx="5286375" cy="952500"/>
          </a:xfrm>
          <a:custGeom>
            <a:avLst/>
            <a:gdLst/>
            <a:ahLst/>
            <a:cxnLst/>
            <a:rect l="l" t="t" r="r" b="b"/>
            <a:pathLst>
              <a:path w="5286375" h="952500">
                <a:moveTo>
                  <a:pt x="317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857250"/>
                </a:lnTo>
                <a:cubicBezTo>
                  <a:pt x="5286375" y="909820"/>
                  <a:pt x="5243695" y="952500"/>
                  <a:pt x="5191125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6409531" y="2238375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6552406" y="2365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512719" y="2365375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60406" y="2365375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Concebir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60406" y="2651125"/>
            <a:ext cx="4572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Seleccionar fuente, definir problema, formular preguntas analíticas, explorar entorno Fabric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9531" y="3317875"/>
            <a:ext cx="5286375" cy="952500"/>
          </a:xfrm>
          <a:custGeom>
            <a:avLst/>
            <a:gdLst/>
            <a:ahLst/>
            <a:cxnLst/>
            <a:rect l="l" t="t" r="r" b="b"/>
            <a:pathLst>
              <a:path w="5286375" h="952500">
                <a:moveTo>
                  <a:pt x="317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857250"/>
                </a:lnTo>
                <a:cubicBezTo>
                  <a:pt x="5286375" y="909820"/>
                  <a:pt x="5243695" y="952500"/>
                  <a:pt x="5191125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6409531" y="3317875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6552406" y="3444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6512719" y="3444875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60406" y="3444875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60406" y="3730625"/>
            <a:ext cx="4572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Planificar arquitectura del pipeline, esquema ETL, modelo semántico estrella, medidas DAX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9531" y="4397375"/>
            <a:ext cx="5286375" cy="952500"/>
          </a:xfrm>
          <a:custGeom>
            <a:avLst/>
            <a:gdLst/>
            <a:ahLst/>
            <a:cxnLst/>
            <a:rect l="l" t="t" r="r" b="b"/>
            <a:pathLst>
              <a:path w="5286375" h="952500">
                <a:moveTo>
                  <a:pt x="317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857250"/>
                </a:lnTo>
                <a:cubicBezTo>
                  <a:pt x="5286375" y="909820"/>
                  <a:pt x="5243695" y="952500"/>
                  <a:pt x="5191125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6409531" y="4397375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6552406" y="4524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6512719" y="4524375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060406" y="4524375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60406" y="4810125"/>
            <a:ext cx="4572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Ejecutar pipeline, transformar datos, construir modelo semántico con relaciones y medidas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9531" y="5476875"/>
            <a:ext cx="5286375" cy="952500"/>
          </a:xfrm>
          <a:custGeom>
            <a:avLst/>
            <a:gdLst/>
            <a:ahLst/>
            <a:cxnLst/>
            <a:rect l="l" t="t" r="r" b="b"/>
            <a:pathLst>
              <a:path w="5286375" h="952500">
                <a:moveTo>
                  <a:pt x="31750" y="0"/>
                </a:moveTo>
                <a:lnTo>
                  <a:pt x="5191125" y="0"/>
                </a:lnTo>
                <a:cubicBezTo>
                  <a:pt x="5243695" y="0"/>
                  <a:pt x="5286375" y="42680"/>
                  <a:pt x="5286375" y="95250"/>
                </a:cubicBezTo>
                <a:lnTo>
                  <a:pt x="5286375" y="857250"/>
                </a:lnTo>
                <a:cubicBezTo>
                  <a:pt x="5286375" y="909820"/>
                  <a:pt x="5243695" y="952500"/>
                  <a:pt x="5191125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Shape 56"/>
          <p:cNvSpPr/>
          <p:nvPr/>
        </p:nvSpPr>
        <p:spPr>
          <a:xfrm>
            <a:off x="6409531" y="5476875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Shape 57"/>
          <p:cNvSpPr/>
          <p:nvPr/>
        </p:nvSpPr>
        <p:spPr>
          <a:xfrm>
            <a:off x="6552406" y="5603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6512719" y="5603875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60406" y="5603875"/>
            <a:ext cx="458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60406" y="5889625"/>
            <a:ext cx="4572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Diseñar informe Power BI, publicar en Service, verificar interactividad, documentar hallazgos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635125" cy="317500"/>
          </a:xfrm>
          <a:custGeom>
            <a:avLst/>
            <a:gdLst/>
            <a:ahLst/>
            <a:cxnLst/>
            <a:rect l="l" t="t" r="r" b="b"/>
            <a:pathLst>
              <a:path w="1635125" h="317500">
                <a:moveTo>
                  <a:pt x="158750" y="0"/>
                </a:moveTo>
                <a:lnTo>
                  <a:pt x="1476375" y="0"/>
                </a:lnTo>
                <a:cubicBezTo>
                  <a:pt x="1563992" y="0"/>
                  <a:pt x="1635125" y="71133"/>
                  <a:pt x="1635125" y="158750"/>
                </a:cubicBezTo>
                <a:lnTo>
                  <a:pt x="1635125" y="158750"/>
                </a:lnTo>
                <a:cubicBezTo>
                  <a:pt x="1635125" y="246367"/>
                  <a:pt x="1563992" y="317500"/>
                  <a:pt x="1476375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44500" y="381000"/>
            <a:ext cx="14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C — CONCEBIR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30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Selección y Preparación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174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Día 1 — Sesión de aprox. 2.5 horas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555750"/>
            <a:ext cx="5699125" cy="2571750"/>
          </a:xfrm>
          <a:custGeom>
            <a:avLst/>
            <a:gdLst/>
            <a:ahLst/>
            <a:cxnLst/>
            <a:rect l="l" t="t" r="r" b="b"/>
            <a:pathLst>
              <a:path w="5699125" h="2571750">
                <a:moveTo>
                  <a:pt x="126993" y="0"/>
                </a:moveTo>
                <a:lnTo>
                  <a:pt x="5572132" y="0"/>
                </a:lnTo>
                <a:cubicBezTo>
                  <a:pt x="5642268" y="0"/>
                  <a:pt x="5699125" y="56857"/>
                  <a:pt x="5699125" y="126993"/>
                </a:cubicBezTo>
                <a:lnTo>
                  <a:pt x="5699125" y="2444757"/>
                </a:lnTo>
                <a:cubicBezTo>
                  <a:pt x="5699125" y="2514893"/>
                  <a:pt x="5642268" y="2571750"/>
                  <a:pt x="5572132" y="2571750"/>
                </a:cubicBezTo>
                <a:lnTo>
                  <a:pt x="126993" y="2571750"/>
                </a:lnTo>
                <a:cubicBezTo>
                  <a:pt x="56857" y="2571750"/>
                  <a:pt x="0" y="2514893"/>
                  <a:pt x="0" y="2444757"/>
                </a:cubicBezTo>
                <a:lnTo>
                  <a:pt x="0" y="126993"/>
                </a:lnTo>
                <a:cubicBezTo>
                  <a:pt x="0" y="56857"/>
                  <a:pt x="56857" y="0"/>
                  <a:pt x="1269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96094" y="1746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74688" y="17145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Exploración de Fuentes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2063750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91344" y="21907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8199" y="78135"/>
                </a:moveTo>
                <a:lnTo>
                  <a:pt x="44927" y="78135"/>
                </a:lnTo>
                <a:cubicBezTo>
                  <a:pt x="45737" y="96134"/>
                  <a:pt x="49727" y="112709"/>
                  <a:pt x="55392" y="124848"/>
                </a:cubicBezTo>
                <a:cubicBezTo>
                  <a:pt x="58573" y="131685"/>
                  <a:pt x="62006" y="136513"/>
                  <a:pt x="65187" y="139471"/>
                </a:cubicBezTo>
                <a:cubicBezTo>
                  <a:pt x="68312" y="142401"/>
                  <a:pt x="70461" y="142875"/>
                  <a:pt x="71577" y="142875"/>
                </a:cubicBezTo>
                <a:cubicBezTo>
                  <a:pt x="72693" y="142875"/>
                  <a:pt x="74842" y="142401"/>
                  <a:pt x="77967" y="139471"/>
                </a:cubicBezTo>
                <a:cubicBezTo>
                  <a:pt x="81149" y="136513"/>
                  <a:pt x="84581" y="131657"/>
                  <a:pt x="87762" y="124848"/>
                </a:cubicBezTo>
                <a:cubicBezTo>
                  <a:pt x="93427" y="112709"/>
                  <a:pt x="97417" y="96134"/>
                  <a:pt x="98227" y="78135"/>
                </a:cubicBezTo>
                <a:close/>
                <a:moveTo>
                  <a:pt x="44900" y="64740"/>
                </a:moveTo>
                <a:lnTo>
                  <a:pt x="98171" y="64740"/>
                </a:lnTo>
                <a:cubicBezTo>
                  <a:pt x="97389" y="46741"/>
                  <a:pt x="93399" y="30166"/>
                  <a:pt x="87734" y="18027"/>
                </a:cubicBezTo>
                <a:cubicBezTo>
                  <a:pt x="84553" y="11218"/>
                  <a:pt x="81121" y="6362"/>
                  <a:pt x="77939" y="3404"/>
                </a:cubicBezTo>
                <a:cubicBezTo>
                  <a:pt x="74814" y="474"/>
                  <a:pt x="72665" y="0"/>
                  <a:pt x="71549" y="0"/>
                </a:cubicBezTo>
                <a:cubicBezTo>
                  <a:pt x="70433" y="0"/>
                  <a:pt x="68284" y="474"/>
                  <a:pt x="65159" y="3404"/>
                </a:cubicBezTo>
                <a:cubicBezTo>
                  <a:pt x="61978" y="6362"/>
                  <a:pt x="58545" y="11218"/>
                  <a:pt x="55364" y="18027"/>
                </a:cubicBezTo>
                <a:cubicBezTo>
                  <a:pt x="49699" y="30166"/>
                  <a:pt x="45709" y="46741"/>
                  <a:pt x="44900" y="64740"/>
                </a:cubicBezTo>
                <a:close/>
                <a:moveTo>
                  <a:pt x="31505" y="64740"/>
                </a:moveTo>
                <a:cubicBezTo>
                  <a:pt x="32482" y="40853"/>
                  <a:pt x="38649" y="18669"/>
                  <a:pt x="47662" y="4102"/>
                </a:cubicBezTo>
                <a:cubicBezTo>
                  <a:pt x="21961" y="13199"/>
                  <a:pt x="3042" y="36612"/>
                  <a:pt x="419" y="64740"/>
                </a:cubicBezTo>
                <a:lnTo>
                  <a:pt x="31505" y="64740"/>
                </a:lnTo>
                <a:close/>
                <a:moveTo>
                  <a:pt x="419" y="78135"/>
                </a:moveTo>
                <a:cubicBezTo>
                  <a:pt x="3042" y="106263"/>
                  <a:pt x="21961" y="129676"/>
                  <a:pt x="47662" y="138773"/>
                </a:cubicBezTo>
                <a:cubicBezTo>
                  <a:pt x="38649" y="124206"/>
                  <a:pt x="32482" y="102022"/>
                  <a:pt x="31505" y="78135"/>
                </a:cubicBezTo>
                <a:lnTo>
                  <a:pt x="419" y="78135"/>
                </a:lnTo>
                <a:close/>
                <a:moveTo>
                  <a:pt x="111593" y="78135"/>
                </a:moveTo>
                <a:cubicBezTo>
                  <a:pt x="110617" y="102022"/>
                  <a:pt x="104449" y="124206"/>
                  <a:pt x="95436" y="138773"/>
                </a:cubicBezTo>
                <a:cubicBezTo>
                  <a:pt x="121137" y="129648"/>
                  <a:pt x="140057" y="106263"/>
                  <a:pt x="142680" y="78135"/>
                </a:cubicBezTo>
                <a:lnTo>
                  <a:pt x="111593" y="78135"/>
                </a:lnTo>
                <a:close/>
                <a:moveTo>
                  <a:pt x="142680" y="64740"/>
                </a:moveTo>
                <a:cubicBezTo>
                  <a:pt x="140057" y="36612"/>
                  <a:pt x="121137" y="13199"/>
                  <a:pt x="95436" y="4102"/>
                </a:cubicBezTo>
                <a:cubicBezTo>
                  <a:pt x="104449" y="18669"/>
                  <a:pt x="110617" y="40853"/>
                  <a:pt x="111593" y="64740"/>
                </a:cubicBezTo>
                <a:lnTo>
                  <a:pt x="142680" y="6474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45344" y="2159000"/>
            <a:ext cx="220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Portales Evaluados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344" y="2349500"/>
            <a:ext cx="220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datos.gov.co, Kaggle, Banco Mundial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2125" y="273050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31750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92125" y="273050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23094" y="28575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77094" y="2825750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Fuente Seleccionada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7094" y="3016250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Casos COVID-19 Colombia — INS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6250" y="3397250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91344" y="3524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45344" y="3492500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 Cumplidos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5344" y="3683000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1.6M+ registros, 23 variables, CSV, licencia educativa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7500" y="4254500"/>
            <a:ext cx="5699125" cy="1365250"/>
          </a:xfrm>
          <a:custGeom>
            <a:avLst/>
            <a:gdLst/>
            <a:ahLst/>
            <a:cxnLst/>
            <a:rect l="l" t="t" r="r" b="b"/>
            <a:pathLst>
              <a:path w="5699125" h="1365250">
                <a:moveTo>
                  <a:pt x="126996" y="0"/>
                </a:moveTo>
                <a:lnTo>
                  <a:pt x="5572129" y="0"/>
                </a:lnTo>
                <a:cubicBezTo>
                  <a:pt x="5642267" y="0"/>
                  <a:pt x="5699125" y="56858"/>
                  <a:pt x="5699125" y="126996"/>
                </a:cubicBezTo>
                <a:lnTo>
                  <a:pt x="5699125" y="1238254"/>
                </a:lnTo>
                <a:cubicBezTo>
                  <a:pt x="5699125" y="1308392"/>
                  <a:pt x="5642267" y="1365250"/>
                  <a:pt x="5572129" y="1365250"/>
                </a:cubicBezTo>
                <a:lnTo>
                  <a:pt x="126996" y="1365250"/>
                </a:lnTo>
                <a:cubicBezTo>
                  <a:pt x="56858" y="1365250"/>
                  <a:pt x="0" y="1308392"/>
                  <a:pt x="0" y="1238254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506016" y="44450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29766"/>
                </a:lnTo>
                <a:close/>
                <a:moveTo>
                  <a:pt x="19844" y="49609"/>
                </a:moveTo>
                <a:lnTo>
                  <a:pt x="19844" y="128984"/>
                </a:lnTo>
                <a:lnTo>
                  <a:pt x="59531" y="128984"/>
                </a:lnTo>
                <a:lnTo>
                  <a:pt x="59531" y="49609"/>
                </a:lnTo>
                <a:lnTo>
                  <a:pt x="19844" y="49609"/>
                </a:lnTo>
                <a:close/>
                <a:moveTo>
                  <a:pt x="119062" y="49609"/>
                </a:moveTo>
                <a:lnTo>
                  <a:pt x="79375" y="4960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49609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74688" y="44132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Columnas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250" y="4762500"/>
            <a:ext cx="1730375" cy="698500"/>
          </a:xfrm>
          <a:custGeom>
            <a:avLst/>
            <a:gdLst/>
            <a:ahLst/>
            <a:cxnLst/>
            <a:rect l="l" t="t" r="r" b="b"/>
            <a:pathLst>
              <a:path w="1730375" h="698500">
                <a:moveTo>
                  <a:pt x="95247" y="0"/>
                </a:moveTo>
                <a:lnTo>
                  <a:pt x="1635128" y="0"/>
                </a:lnTo>
                <a:cubicBezTo>
                  <a:pt x="1687731" y="0"/>
                  <a:pt x="1730375" y="42644"/>
                  <a:pt x="1730375" y="95247"/>
                </a:cubicBezTo>
                <a:lnTo>
                  <a:pt x="1730375" y="603253"/>
                </a:lnTo>
                <a:cubicBezTo>
                  <a:pt x="1730375" y="655856"/>
                  <a:pt x="1687731" y="698500"/>
                  <a:pt x="1635128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11969" y="4857750"/>
            <a:ext cx="1658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750" y="51752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301875" y="4762500"/>
            <a:ext cx="1730375" cy="698500"/>
          </a:xfrm>
          <a:custGeom>
            <a:avLst/>
            <a:gdLst/>
            <a:ahLst/>
            <a:cxnLst/>
            <a:rect l="l" t="t" r="r" b="b"/>
            <a:pathLst>
              <a:path w="1730375" h="698500">
                <a:moveTo>
                  <a:pt x="95247" y="0"/>
                </a:moveTo>
                <a:lnTo>
                  <a:pt x="1635128" y="0"/>
                </a:lnTo>
                <a:cubicBezTo>
                  <a:pt x="1687731" y="0"/>
                  <a:pt x="1730375" y="42644"/>
                  <a:pt x="1730375" y="95247"/>
                </a:cubicBezTo>
                <a:lnTo>
                  <a:pt x="1730375" y="603253"/>
                </a:lnTo>
                <a:cubicBezTo>
                  <a:pt x="1730375" y="655856"/>
                  <a:pt x="1687731" y="698500"/>
                  <a:pt x="1635128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2337594" y="4857750"/>
            <a:ext cx="1658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365375" y="51752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27500" y="4762500"/>
            <a:ext cx="1730375" cy="698500"/>
          </a:xfrm>
          <a:custGeom>
            <a:avLst/>
            <a:gdLst/>
            <a:ahLst/>
            <a:cxnLst/>
            <a:rect l="l" t="t" r="r" b="b"/>
            <a:pathLst>
              <a:path w="1730375" h="698500">
                <a:moveTo>
                  <a:pt x="95247" y="0"/>
                </a:moveTo>
                <a:lnTo>
                  <a:pt x="1635128" y="0"/>
                </a:lnTo>
                <a:cubicBezTo>
                  <a:pt x="1687731" y="0"/>
                  <a:pt x="1730375" y="42644"/>
                  <a:pt x="1730375" y="95247"/>
                </a:cubicBezTo>
                <a:lnTo>
                  <a:pt x="1730375" y="603253"/>
                </a:lnTo>
                <a:cubicBezTo>
                  <a:pt x="1730375" y="655856"/>
                  <a:pt x="1687731" y="698500"/>
                  <a:pt x="1635128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163219" y="4857750"/>
            <a:ext cx="1658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91000" y="51752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7500" y="5746750"/>
            <a:ext cx="5699125" cy="1047750"/>
          </a:xfrm>
          <a:custGeom>
            <a:avLst/>
            <a:gdLst/>
            <a:ahLst/>
            <a:cxnLst/>
            <a:rect l="l" t="t" r="r" b="b"/>
            <a:pathLst>
              <a:path w="5699125" h="1047750">
                <a:moveTo>
                  <a:pt x="126998" y="0"/>
                </a:moveTo>
                <a:lnTo>
                  <a:pt x="5572127" y="0"/>
                </a:lnTo>
                <a:cubicBezTo>
                  <a:pt x="5642266" y="0"/>
                  <a:pt x="5699125" y="56859"/>
                  <a:pt x="5699125" y="126998"/>
                </a:cubicBezTo>
                <a:lnTo>
                  <a:pt x="5699125" y="920752"/>
                </a:lnTo>
                <a:cubicBezTo>
                  <a:pt x="5699125" y="990891"/>
                  <a:pt x="5642266" y="1047750"/>
                  <a:pt x="5572127" y="1047750"/>
                </a:cubicBezTo>
                <a:lnTo>
                  <a:pt x="126998" y="1047750"/>
                </a:lnTo>
                <a:cubicBezTo>
                  <a:pt x="56859" y="1047750"/>
                  <a:pt x="0" y="990891"/>
                  <a:pt x="0" y="92075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15938" y="59372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74688" y="59055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Reflexión Clave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6250" y="622300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calidad del proyecto depende de decisiones tomadas </a:t>
            </a: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antes</a:t>
            </a: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ejecutar código. La tabla de decisiones sobre columnas es un artefacto crítico que define el fundamento analítico.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5375" y="1555750"/>
            <a:ext cx="5699125" cy="2667000"/>
          </a:xfrm>
          <a:custGeom>
            <a:avLst/>
            <a:gdLst/>
            <a:ahLst/>
            <a:cxnLst/>
            <a:rect l="l" t="t" r="r" b="b"/>
            <a:pathLst>
              <a:path w="5699125" h="2667000">
                <a:moveTo>
                  <a:pt x="127003" y="0"/>
                </a:moveTo>
                <a:lnTo>
                  <a:pt x="5572122" y="0"/>
                </a:lnTo>
                <a:cubicBezTo>
                  <a:pt x="5642264" y="0"/>
                  <a:pt x="5699125" y="56861"/>
                  <a:pt x="5699125" y="127003"/>
                </a:cubicBezTo>
                <a:lnTo>
                  <a:pt x="5699125" y="2539997"/>
                </a:lnTo>
                <a:cubicBezTo>
                  <a:pt x="5699125" y="2610139"/>
                  <a:pt x="5642264" y="2667000"/>
                  <a:pt x="5572122" y="2667000"/>
                </a:cubicBezTo>
                <a:lnTo>
                  <a:pt x="127003" y="2667000"/>
                </a:lnTo>
                <a:cubicBezTo>
                  <a:pt x="56861" y="2667000"/>
                  <a:pt x="0" y="2610139"/>
                  <a:pt x="0" y="2539997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6344047" y="17462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532563" y="17145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Creación del Workspace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4125" y="2063750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429375" y="215900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Nombre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9375" y="238125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COVID19_Colombia_VizDatos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34125" y="2762250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429375" y="285750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Descripción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29375" y="307975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Proyecto ABP - Análisis de casos COVID-19 en Colombia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4125" y="3460750"/>
            <a:ext cx="5381625" cy="603250"/>
          </a:xfrm>
          <a:custGeom>
            <a:avLst/>
            <a:gdLst/>
            <a:ahLst/>
            <a:cxnLst/>
            <a:rect l="l" t="t" r="r" b="b"/>
            <a:pathLst>
              <a:path w="5381625" h="603250">
                <a:moveTo>
                  <a:pt x="63498" y="0"/>
                </a:moveTo>
                <a:lnTo>
                  <a:pt x="5318127" y="0"/>
                </a:lnTo>
                <a:cubicBezTo>
                  <a:pt x="5353196" y="0"/>
                  <a:pt x="5381625" y="28429"/>
                  <a:pt x="5381625" y="63498"/>
                </a:cubicBezTo>
                <a:lnTo>
                  <a:pt x="5381625" y="539752"/>
                </a:lnTo>
                <a:cubicBezTo>
                  <a:pt x="5381625" y="574821"/>
                  <a:pt x="5353196" y="603250"/>
                  <a:pt x="531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6429375" y="355600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Licencia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9375" y="377825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Trial (Microsoft 365 Educativa)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5375" y="4349750"/>
            <a:ext cx="5699125" cy="1968500"/>
          </a:xfrm>
          <a:custGeom>
            <a:avLst/>
            <a:gdLst/>
            <a:ahLst/>
            <a:cxnLst/>
            <a:rect l="l" t="t" r="r" b="b"/>
            <a:pathLst>
              <a:path w="5699125" h="1968500">
                <a:moveTo>
                  <a:pt x="127008" y="0"/>
                </a:moveTo>
                <a:lnTo>
                  <a:pt x="5572117" y="0"/>
                </a:lnTo>
                <a:cubicBezTo>
                  <a:pt x="5642262" y="0"/>
                  <a:pt x="5699125" y="56863"/>
                  <a:pt x="5699125" y="127008"/>
                </a:cubicBezTo>
                <a:lnTo>
                  <a:pt x="5699125" y="1841492"/>
                </a:lnTo>
                <a:cubicBezTo>
                  <a:pt x="5699125" y="1911637"/>
                  <a:pt x="5642262" y="1968500"/>
                  <a:pt x="5572117" y="1968500"/>
                </a:cubicBezTo>
                <a:lnTo>
                  <a:pt x="127008" y="1968500"/>
                </a:lnTo>
                <a:cubicBezTo>
                  <a:pt x="56863" y="1968500"/>
                  <a:pt x="0" y="1911637"/>
                  <a:pt x="0" y="1841492"/>
                </a:cubicBezTo>
                <a:lnTo>
                  <a:pt x="0" y="127008"/>
                </a:lnTo>
                <a:cubicBezTo>
                  <a:pt x="0" y="56910"/>
                  <a:pt x="56910" y="0"/>
                  <a:pt x="1270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6353969" y="4540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6532563" y="45085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Dificultades y Soluciones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0000" y="4857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Shape 52"/>
          <p:cNvSpPr/>
          <p:nvPr/>
        </p:nvSpPr>
        <p:spPr>
          <a:xfrm>
            <a:off x="6350000" y="485775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6461125" y="4953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Tamaño del archivo (~300 MB)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61125" y="5175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Verificar capacidad Trial de Fabric antes de subir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0000" y="55562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Shape 56"/>
          <p:cNvSpPr/>
          <p:nvPr/>
        </p:nvSpPr>
        <p:spPr>
          <a:xfrm>
            <a:off x="6350000" y="555625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6461125" y="5651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columnas irrelevantes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61125" y="5873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Seguir tabla de decisiones antes de transformación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8" y="95250"/>
            <a:ext cx="1524000" cy="317500"/>
          </a:xfrm>
          <a:custGeom>
            <a:avLst/>
            <a:gdLst/>
            <a:ahLst/>
            <a:cxnLst/>
            <a:rect l="l" t="t" r="r" b="b"/>
            <a:pathLst>
              <a:path w="1524000" h="317500">
                <a:moveTo>
                  <a:pt x="158750" y="0"/>
                </a:moveTo>
                <a:lnTo>
                  <a:pt x="1365250" y="0"/>
                </a:lnTo>
                <a:cubicBezTo>
                  <a:pt x="1452867" y="0"/>
                  <a:pt x="1524000" y="71133"/>
                  <a:pt x="1524000" y="158750"/>
                </a:cubicBezTo>
                <a:lnTo>
                  <a:pt x="1524000" y="158750"/>
                </a:lnTo>
                <a:cubicBezTo>
                  <a:pt x="1524000" y="246367"/>
                  <a:pt x="1452867" y="317500"/>
                  <a:pt x="13652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48468" y="1587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D — DISEÑAR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563562"/>
            <a:ext cx="11747500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8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del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98436" y="774311"/>
            <a:ext cx="6881813" cy="3206750"/>
          </a:xfrm>
          <a:custGeom>
            <a:avLst/>
            <a:gdLst/>
            <a:ahLst/>
            <a:cxnLst/>
            <a:rect l="l" t="t" r="r" b="b"/>
            <a:pathLst>
              <a:path w="6881813" h="3206750">
                <a:moveTo>
                  <a:pt x="126987" y="0"/>
                </a:moveTo>
                <a:lnTo>
                  <a:pt x="6754825" y="0"/>
                </a:lnTo>
                <a:cubicBezTo>
                  <a:pt x="6824958" y="0"/>
                  <a:pt x="6881813" y="56854"/>
                  <a:pt x="6881813" y="126987"/>
                </a:cubicBezTo>
                <a:lnTo>
                  <a:pt x="6881813" y="3079763"/>
                </a:lnTo>
                <a:cubicBezTo>
                  <a:pt x="6881812" y="3149896"/>
                  <a:pt x="6824958" y="3206750"/>
                  <a:pt x="6754825" y="3206750"/>
                </a:cubicBezTo>
                <a:lnTo>
                  <a:pt x="126987" y="3206750"/>
                </a:lnTo>
                <a:cubicBezTo>
                  <a:pt x="56854" y="3206750"/>
                  <a:pt x="0" y="3149896"/>
                  <a:pt x="0" y="307976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77030" y="96481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55624" y="933061"/>
            <a:ext cx="644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del Workspace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7186" y="1282311"/>
            <a:ext cx="6564313" cy="2540000"/>
          </a:xfrm>
          <a:custGeom>
            <a:avLst/>
            <a:gdLst/>
            <a:ahLst/>
            <a:cxnLst/>
            <a:rect l="l" t="t" r="r" b="b"/>
            <a:pathLst>
              <a:path w="6564313" h="2540000">
                <a:moveTo>
                  <a:pt x="95250" y="0"/>
                </a:moveTo>
                <a:lnTo>
                  <a:pt x="6469063" y="0"/>
                </a:lnTo>
                <a:cubicBezTo>
                  <a:pt x="6521632" y="0"/>
                  <a:pt x="6564313" y="42680"/>
                  <a:pt x="6564313" y="95250"/>
                </a:cubicBezTo>
                <a:lnTo>
                  <a:pt x="6564313" y="2444750"/>
                </a:lnTo>
                <a:cubicBezTo>
                  <a:pt x="6564313" y="2497320"/>
                  <a:pt x="6521632" y="2540000"/>
                  <a:pt x="6469063" y="2540000"/>
                </a:cubicBezTo>
                <a:lnTo>
                  <a:pt x="95250" y="2540000"/>
                </a:lnTo>
                <a:cubicBezTo>
                  <a:pt x="42680" y="2540000"/>
                  <a:pt x="0" y="2497320"/>
                  <a:pt x="0" y="2444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84186" y="1409311"/>
            <a:ext cx="637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📁 COVID19_Colombia_VizDatos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186" y="1663311"/>
            <a:ext cx="624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├── 🏠 lh_covid19_colombia (Lakehouse)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8186" y="1885561"/>
            <a:ext cx="611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├── 📁 Files/raw/casos_covid_19.csv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8186" y="2076061"/>
            <a:ext cx="611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└── 📊 Tables/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5186" y="2266561"/>
            <a:ext cx="599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├── fact_casos_covid19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5186" y="2457061"/>
            <a:ext cx="599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├── dim_geografia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5186" y="2647561"/>
            <a:ext cx="599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├── dim_persona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5186" y="2838061"/>
            <a:ext cx="599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└── dim_fecha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1186" y="3060311"/>
            <a:ext cx="624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├── ⚡ df_transformacion_covid19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1186" y="3282561"/>
            <a:ext cx="624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├── ⚡ df_dimensiones_covid19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1186" y="3504811"/>
            <a:ext cx="624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└── 🔷 sm_covid19_colombia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98436" y="4108061"/>
            <a:ext cx="6881813" cy="2952750"/>
          </a:xfrm>
          <a:custGeom>
            <a:avLst/>
            <a:gdLst/>
            <a:ahLst/>
            <a:cxnLst/>
            <a:rect l="l" t="t" r="r" b="b"/>
            <a:pathLst>
              <a:path w="6881813" h="2952750">
                <a:moveTo>
                  <a:pt x="126998" y="0"/>
                </a:moveTo>
                <a:lnTo>
                  <a:pt x="6754815" y="0"/>
                </a:lnTo>
                <a:cubicBezTo>
                  <a:pt x="6824954" y="0"/>
                  <a:pt x="6881813" y="56859"/>
                  <a:pt x="6881813" y="126998"/>
                </a:cubicBezTo>
                <a:lnTo>
                  <a:pt x="6881813" y="2825752"/>
                </a:lnTo>
                <a:cubicBezTo>
                  <a:pt x="6881813" y="2895891"/>
                  <a:pt x="6824954" y="2952750"/>
                  <a:pt x="6754815" y="2952750"/>
                </a:cubicBezTo>
                <a:lnTo>
                  <a:pt x="126998" y="2952750"/>
                </a:lnTo>
                <a:cubicBezTo>
                  <a:pt x="56859" y="2952750"/>
                  <a:pt x="0" y="2895891"/>
                  <a:pt x="0" y="282575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57186" y="4298561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55624" y="4266811"/>
            <a:ext cx="644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Esquema de Transformaciones ETL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3061" y="4616061"/>
            <a:ext cx="3222625" cy="698500"/>
          </a:xfrm>
          <a:custGeom>
            <a:avLst/>
            <a:gdLst/>
            <a:ahLst/>
            <a:cxnLst/>
            <a:rect l="l" t="t" r="r" b="b"/>
            <a:pathLst>
              <a:path w="3222625" h="698500">
                <a:moveTo>
                  <a:pt x="31750" y="0"/>
                </a:moveTo>
                <a:lnTo>
                  <a:pt x="3159124" y="0"/>
                </a:lnTo>
                <a:cubicBezTo>
                  <a:pt x="3194195" y="0"/>
                  <a:pt x="3222625" y="28430"/>
                  <a:pt x="3222625" y="63501"/>
                </a:cubicBezTo>
                <a:lnTo>
                  <a:pt x="3222625" y="634999"/>
                </a:lnTo>
                <a:cubicBezTo>
                  <a:pt x="3222625" y="670070"/>
                  <a:pt x="3194195" y="698500"/>
                  <a:pt x="3159124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73061" y="461606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84186" y="471131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56405" y="471131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1686" y="4743061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186" y="5028811"/>
            <a:ext cx="307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columnas irrelevantes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03636" y="4616061"/>
            <a:ext cx="3222625" cy="698500"/>
          </a:xfrm>
          <a:custGeom>
            <a:avLst/>
            <a:gdLst/>
            <a:ahLst/>
            <a:cxnLst/>
            <a:rect l="l" t="t" r="r" b="b"/>
            <a:pathLst>
              <a:path w="3222625" h="698500">
                <a:moveTo>
                  <a:pt x="31750" y="0"/>
                </a:moveTo>
                <a:lnTo>
                  <a:pt x="3159124" y="0"/>
                </a:lnTo>
                <a:cubicBezTo>
                  <a:pt x="3194195" y="0"/>
                  <a:pt x="3222625" y="28430"/>
                  <a:pt x="3222625" y="63501"/>
                </a:cubicBezTo>
                <a:lnTo>
                  <a:pt x="3222625" y="634999"/>
                </a:lnTo>
                <a:cubicBezTo>
                  <a:pt x="3222625" y="670070"/>
                  <a:pt x="3194195" y="698500"/>
                  <a:pt x="3159124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3703636" y="461606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814761" y="471131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786980" y="471131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132261" y="4743061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Renombrar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14761" y="5028811"/>
            <a:ext cx="307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 columnas a snake_case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3061" y="5409811"/>
            <a:ext cx="3222625" cy="698500"/>
          </a:xfrm>
          <a:custGeom>
            <a:avLst/>
            <a:gdLst/>
            <a:ahLst/>
            <a:cxnLst/>
            <a:rect l="l" t="t" r="r" b="b"/>
            <a:pathLst>
              <a:path w="3222625" h="698500">
                <a:moveTo>
                  <a:pt x="31750" y="0"/>
                </a:moveTo>
                <a:lnTo>
                  <a:pt x="3159124" y="0"/>
                </a:lnTo>
                <a:cubicBezTo>
                  <a:pt x="3194195" y="0"/>
                  <a:pt x="3222625" y="28430"/>
                  <a:pt x="3222625" y="63501"/>
                </a:cubicBezTo>
                <a:lnTo>
                  <a:pt x="3222625" y="634999"/>
                </a:lnTo>
                <a:cubicBezTo>
                  <a:pt x="3222625" y="670070"/>
                  <a:pt x="3194195" y="698500"/>
                  <a:pt x="3159124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373061" y="540981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484186" y="550506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56405" y="550506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1686" y="5536811"/>
            <a:ext cx="46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Tipado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4186" y="5822561"/>
            <a:ext cx="307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Fechas, números, texto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703636" y="5409811"/>
            <a:ext cx="3222625" cy="698500"/>
          </a:xfrm>
          <a:custGeom>
            <a:avLst/>
            <a:gdLst/>
            <a:ahLst/>
            <a:cxnLst/>
            <a:rect l="l" t="t" r="r" b="b"/>
            <a:pathLst>
              <a:path w="3222625" h="698500">
                <a:moveTo>
                  <a:pt x="31750" y="0"/>
                </a:moveTo>
                <a:lnTo>
                  <a:pt x="3159124" y="0"/>
                </a:lnTo>
                <a:cubicBezTo>
                  <a:pt x="3194195" y="0"/>
                  <a:pt x="3222625" y="28430"/>
                  <a:pt x="3222625" y="63501"/>
                </a:cubicBezTo>
                <a:lnTo>
                  <a:pt x="3222625" y="634999"/>
                </a:lnTo>
                <a:cubicBezTo>
                  <a:pt x="3222625" y="670070"/>
                  <a:pt x="3194195" y="698500"/>
                  <a:pt x="3159124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3703636" y="540981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814761" y="550506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3786980" y="550506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132261" y="5536811"/>
            <a:ext cx="50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Limpiar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814761" y="5822561"/>
            <a:ext cx="307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Trim + Uppercase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73061" y="6203561"/>
            <a:ext cx="3222625" cy="698500"/>
          </a:xfrm>
          <a:custGeom>
            <a:avLst/>
            <a:gdLst/>
            <a:ahLst/>
            <a:cxnLst/>
            <a:rect l="l" t="t" r="r" b="b"/>
            <a:pathLst>
              <a:path w="3222625" h="698500">
                <a:moveTo>
                  <a:pt x="31750" y="0"/>
                </a:moveTo>
                <a:lnTo>
                  <a:pt x="3159124" y="0"/>
                </a:lnTo>
                <a:cubicBezTo>
                  <a:pt x="3194195" y="0"/>
                  <a:pt x="3222625" y="28430"/>
                  <a:pt x="3222625" y="63501"/>
                </a:cubicBezTo>
                <a:lnTo>
                  <a:pt x="3222625" y="634999"/>
                </a:lnTo>
                <a:cubicBezTo>
                  <a:pt x="3222625" y="670070"/>
                  <a:pt x="3194195" y="698500"/>
                  <a:pt x="3159124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373061" y="620356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484186" y="629881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456405" y="629881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1686" y="6330561"/>
            <a:ext cx="39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Nulos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4186" y="6616311"/>
            <a:ext cx="307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Manejo estratégico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703636" y="6203561"/>
            <a:ext cx="3222625" cy="698500"/>
          </a:xfrm>
          <a:custGeom>
            <a:avLst/>
            <a:gdLst/>
            <a:ahLst/>
            <a:cxnLst/>
            <a:rect l="l" t="t" r="r" b="b"/>
            <a:pathLst>
              <a:path w="3222625" h="698500">
                <a:moveTo>
                  <a:pt x="31750" y="0"/>
                </a:moveTo>
                <a:lnTo>
                  <a:pt x="3159124" y="0"/>
                </a:lnTo>
                <a:cubicBezTo>
                  <a:pt x="3194195" y="0"/>
                  <a:pt x="3222625" y="28430"/>
                  <a:pt x="3222625" y="63501"/>
                </a:cubicBezTo>
                <a:lnTo>
                  <a:pt x="3222625" y="634999"/>
                </a:lnTo>
                <a:cubicBezTo>
                  <a:pt x="3222625" y="670070"/>
                  <a:pt x="3194195" y="698500"/>
                  <a:pt x="3159124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Shape 53"/>
          <p:cNvSpPr/>
          <p:nvPr/>
        </p:nvSpPr>
        <p:spPr>
          <a:xfrm>
            <a:off x="3703636" y="620356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3814761" y="629881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3786980" y="629881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132261" y="6330561"/>
            <a:ext cx="484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Derivar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814761" y="6616311"/>
            <a:ext cx="307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columnas nuevas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320359" y="190500"/>
            <a:ext cx="4548188" cy="3333750"/>
          </a:xfrm>
          <a:custGeom>
            <a:avLst/>
            <a:gdLst/>
            <a:ahLst/>
            <a:cxnLst/>
            <a:rect l="l" t="t" r="r" b="b"/>
            <a:pathLst>
              <a:path w="4548188" h="3333750">
                <a:moveTo>
                  <a:pt x="127016" y="0"/>
                </a:moveTo>
                <a:lnTo>
                  <a:pt x="4421172" y="0"/>
                </a:lnTo>
                <a:cubicBezTo>
                  <a:pt x="4491321" y="0"/>
                  <a:pt x="4548188" y="56867"/>
                  <a:pt x="4548188" y="127016"/>
                </a:cubicBezTo>
                <a:lnTo>
                  <a:pt x="4548188" y="3206734"/>
                </a:lnTo>
                <a:cubicBezTo>
                  <a:pt x="4548188" y="3276883"/>
                  <a:pt x="4491321" y="3333750"/>
                  <a:pt x="4421172" y="3333750"/>
                </a:cubicBezTo>
                <a:lnTo>
                  <a:pt x="127016" y="3333750"/>
                </a:lnTo>
                <a:cubicBezTo>
                  <a:pt x="56867" y="3333750"/>
                  <a:pt x="0" y="3276883"/>
                  <a:pt x="0" y="3206734"/>
                </a:cubicBezTo>
                <a:lnTo>
                  <a:pt x="0" y="127016"/>
                </a:lnTo>
                <a:cubicBezTo>
                  <a:pt x="0" y="56914"/>
                  <a:pt x="56914" y="0"/>
                  <a:pt x="1270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1" name="Shape 59"/>
          <p:cNvSpPr/>
          <p:nvPr/>
        </p:nvSpPr>
        <p:spPr>
          <a:xfrm>
            <a:off x="7489031" y="3810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7677547" y="349250"/>
            <a:ext cx="411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Estrella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479109" y="698500"/>
            <a:ext cx="4230688" cy="635000"/>
          </a:xfrm>
          <a:custGeom>
            <a:avLst/>
            <a:gdLst/>
            <a:ahLst/>
            <a:cxnLst/>
            <a:rect l="l" t="t" r="r" b="b"/>
            <a:pathLst>
              <a:path w="4230688" h="635000">
                <a:moveTo>
                  <a:pt x="95250" y="0"/>
                </a:moveTo>
                <a:lnTo>
                  <a:pt x="4135438" y="0"/>
                </a:lnTo>
                <a:cubicBezTo>
                  <a:pt x="4188007" y="0"/>
                  <a:pt x="4230688" y="42680"/>
                  <a:pt x="4230688" y="95250"/>
                </a:cubicBezTo>
                <a:lnTo>
                  <a:pt x="4230688" y="539750"/>
                </a:lnTo>
                <a:cubicBezTo>
                  <a:pt x="4230688" y="592320"/>
                  <a:pt x="4188007" y="635000"/>
                  <a:pt x="4135438" y="635000"/>
                </a:cubicBezTo>
                <a:lnTo>
                  <a:pt x="95250" y="635000"/>
                </a:lnTo>
                <a:cubicBezTo>
                  <a:pt x="42680" y="635000"/>
                  <a:pt x="0" y="592320"/>
                  <a:pt x="0" y="539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7574359" y="793750"/>
            <a:ext cx="410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⭐ fact_casos_covid19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574359" y="1047750"/>
            <a:ext cx="410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Tabla de hechos con 1.6M+ registros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606109" y="1428750"/>
            <a:ext cx="4103688" cy="603250"/>
          </a:xfrm>
          <a:custGeom>
            <a:avLst/>
            <a:gdLst/>
            <a:ahLst/>
            <a:cxnLst/>
            <a:rect l="l" t="t" r="r" b="b"/>
            <a:pathLst>
              <a:path w="4103688" h="603250">
                <a:moveTo>
                  <a:pt x="95247" y="0"/>
                </a:moveTo>
                <a:lnTo>
                  <a:pt x="4008440" y="0"/>
                </a:lnTo>
                <a:cubicBezTo>
                  <a:pt x="4061044" y="0"/>
                  <a:pt x="4103688" y="42644"/>
                  <a:pt x="4103688" y="95247"/>
                </a:cubicBezTo>
                <a:lnTo>
                  <a:pt x="4103688" y="508003"/>
                </a:lnTo>
                <a:cubicBezTo>
                  <a:pt x="4103688" y="560606"/>
                  <a:pt x="4061044" y="603250"/>
                  <a:pt x="4008440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7701359" y="1524000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🗺️ dim_geografia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701359" y="1746250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Ubicaciones únicas por municipio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606109" y="2095500"/>
            <a:ext cx="4103688" cy="603250"/>
          </a:xfrm>
          <a:custGeom>
            <a:avLst/>
            <a:gdLst/>
            <a:ahLst/>
            <a:cxnLst/>
            <a:rect l="l" t="t" r="r" b="b"/>
            <a:pathLst>
              <a:path w="4103688" h="603250">
                <a:moveTo>
                  <a:pt x="95247" y="0"/>
                </a:moveTo>
                <a:lnTo>
                  <a:pt x="4008440" y="0"/>
                </a:lnTo>
                <a:cubicBezTo>
                  <a:pt x="4061044" y="0"/>
                  <a:pt x="4103688" y="42644"/>
                  <a:pt x="4103688" y="95247"/>
                </a:cubicBezTo>
                <a:lnTo>
                  <a:pt x="4103688" y="508003"/>
                </a:lnTo>
                <a:cubicBezTo>
                  <a:pt x="4103688" y="560606"/>
                  <a:pt x="4061044" y="603250"/>
                  <a:pt x="4008440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7701359" y="2190750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👤 dim_persona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701359" y="2413000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Perfiles demográficos únicos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606109" y="2762250"/>
            <a:ext cx="4103688" cy="603250"/>
          </a:xfrm>
          <a:custGeom>
            <a:avLst/>
            <a:gdLst/>
            <a:ahLst/>
            <a:cxnLst/>
            <a:rect l="l" t="t" r="r" b="b"/>
            <a:pathLst>
              <a:path w="4103688" h="603250">
                <a:moveTo>
                  <a:pt x="95247" y="0"/>
                </a:moveTo>
                <a:lnTo>
                  <a:pt x="4008440" y="0"/>
                </a:lnTo>
                <a:cubicBezTo>
                  <a:pt x="4061044" y="0"/>
                  <a:pt x="4103688" y="42644"/>
                  <a:pt x="4103688" y="95247"/>
                </a:cubicBezTo>
                <a:lnTo>
                  <a:pt x="4103688" y="508003"/>
                </a:lnTo>
                <a:cubicBezTo>
                  <a:pt x="4103688" y="560606"/>
                  <a:pt x="4061044" y="603250"/>
                  <a:pt x="4008440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7701359" y="2857500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📅 dim_fecha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701359" y="3079750"/>
            <a:ext cx="3976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de tiempo (2020-2023)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320359" y="3651250"/>
            <a:ext cx="4548188" cy="1809750"/>
          </a:xfrm>
          <a:custGeom>
            <a:avLst/>
            <a:gdLst/>
            <a:ahLst/>
            <a:cxnLst/>
            <a:rect l="l" t="t" r="r" b="b"/>
            <a:pathLst>
              <a:path w="4548188" h="1809750">
                <a:moveTo>
                  <a:pt x="127008" y="0"/>
                </a:moveTo>
                <a:lnTo>
                  <a:pt x="4421179" y="0"/>
                </a:lnTo>
                <a:cubicBezTo>
                  <a:pt x="4491324" y="0"/>
                  <a:pt x="4548188" y="56864"/>
                  <a:pt x="4548188" y="127008"/>
                </a:cubicBezTo>
                <a:lnTo>
                  <a:pt x="4548188" y="1682742"/>
                </a:lnTo>
                <a:cubicBezTo>
                  <a:pt x="4548188" y="1752886"/>
                  <a:pt x="4491324" y="1809750"/>
                  <a:pt x="4421179" y="1809750"/>
                </a:cubicBezTo>
                <a:lnTo>
                  <a:pt x="127008" y="1809750"/>
                </a:lnTo>
                <a:cubicBezTo>
                  <a:pt x="56864" y="1809750"/>
                  <a:pt x="0" y="1752886"/>
                  <a:pt x="0" y="1682742"/>
                </a:cubicBezTo>
                <a:lnTo>
                  <a:pt x="0" y="127008"/>
                </a:lnTo>
                <a:cubicBezTo>
                  <a:pt x="0" y="56864"/>
                  <a:pt x="56864" y="0"/>
                  <a:pt x="1270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6" name="Shape 74"/>
          <p:cNvSpPr/>
          <p:nvPr/>
        </p:nvSpPr>
        <p:spPr>
          <a:xfrm>
            <a:off x="7518797" y="38417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7" name="Text 75"/>
          <p:cNvSpPr/>
          <p:nvPr/>
        </p:nvSpPr>
        <p:spPr>
          <a:xfrm>
            <a:off x="7677547" y="3810000"/>
            <a:ext cx="411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Medidas DAX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479109" y="4159250"/>
            <a:ext cx="4230688" cy="1143000"/>
          </a:xfrm>
          <a:custGeom>
            <a:avLst/>
            <a:gdLst/>
            <a:ahLst/>
            <a:cxnLst/>
            <a:rect l="l" t="t" r="r" b="b"/>
            <a:pathLst>
              <a:path w="4230688" h="1143000">
                <a:moveTo>
                  <a:pt x="95246" y="0"/>
                </a:moveTo>
                <a:lnTo>
                  <a:pt x="4135441" y="0"/>
                </a:lnTo>
                <a:cubicBezTo>
                  <a:pt x="4188044" y="0"/>
                  <a:pt x="4230688" y="42643"/>
                  <a:pt x="4230688" y="95246"/>
                </a:cubicBezTo>
                <a:lnTo>
                  <a:pt x="4230688" y="1047754"/>
                </a:lnTo>
                <a:cubicBezTo>
                  <a:pt x="4230688" y="1100357"/>
                  <a:pt x="4188044" y="1143000"/>
                  <a:pt x="4135441" y="1143000"/>
                </a:cubicBezTo>
                <a:lnTo>
                  <a:pt x="95246" y="1143000"/>
                </a:lnTo>
                <a:cubicBezTo>
                  <a:pt x="42643" y="1143000"/>
                  <a:pt x="0" y="1100357"/>
                  <a:pt x="0" y="10477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gradFill flip="none" rotWithShape="1">
            <a:gsLst>
              <a:gs pos="0">
                <a:srgbClr val="2DD4BF">
                  <a:alpha val="10000"/>
                </a:srgbClr>
              </a:gs>
              <a:gs pos="100000">
                <a:srgbClr val="2DD4BF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79" name="Text 77"/>
          <p:cNvSpPr/>
          <p:nvPr/>
        </p:nvSpPr>
        <p:spPr>
          <a:xfrm>
            <a:off x="7510859" y="4286250"/>
            <a:ext cx="4167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570390" y="4730750"/>
            <a:ext cx="404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Medidas Planificadas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574359" y="4984750"/>
            <a:ext cx="404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Clasificadas por pregunta analítica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298531" y="5651500"/>
            <a:ext cx="4548188" cy="1047750"/>
          </a:xfrm>
          <a:custGeom>
            <a:avLst/>
            <a:gdLst/>
            <a:ahLst/>
            <a:cxnLst/>
            <a:rect l="l" t="t" r="r" b="b"/>
            <a:pathLst>
              <a:path w="4548188" h="1047750">
                <a:moveTo>
                  <a:pt x="126998" y="0"/>
                </a:moveTo>
                <a:lnTo>
                  <a:pt x="4421190" y="0"/>
                </a:lnTo>
                <a:cubicBezTo>
                  <a:pt x="4491329" y="0"/>
                  <a:pt x="4548188" y="56859"/>
                  <a:pt x="4548188" y="126998"/>
                </a:cubicBezTo>
                <a:lnTo>
                  <a:pt x="4548188" y="920752"/>
                </a:lnTo>
                <a:cubicBezTo>
                  <a:pt x="4548188" y="990891"/>
                  <a:pt x="4491329" y="1047750"/>
                  <a:pt x="4421190" y="1047750"/>
                </a:cubicBezTo>
                <a:lnTo>
                  <a:pt x="126998" y="1047750"/>
                </a:lnTo>
                <a:cubicBezTo>
                  <a:pt x="56859" y="1047750"/>
                  <a:pt x="0" y="990891"/>
                  <a:pt x="0" y="92075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3" name="Shape 81"/>
          <p:cNvSpPr/>
          <p:nvPr/>
        </p:nvSpPr>
        <p:spPr>
          <a:xfrm>
            <a:off x="7516812" y="578643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4" name="Text 82"/>
          <p:cNvSpPr/>
          <p:nvPr/>
        </p:nvSpPr>
        <p:spPr>
          <a:xfrm>
            <a:off x="7661672" y="5746750"/>
            <a:ext cx="41195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479109" y="6064250"/>
            <a:ext cx="42941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Diseñar las medidas DAX </a:t>
            </a: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antes</a:t>
            </a: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construir visuales es práctica de ingeniería inversa eficiente.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8125" y="107432"/>
            <a:ext cx="1841500" cy="317500"/>
          </a:xfrm>
          <a:custGeom>
            <a:avLst/>
            <a:gdLst/>
            <a:ahLst/>
            <a:cxnLst/>
            <a:rect l="l" t="t" r="r" b="b"/>
            <a:pathLst>
              <a:path w="1841500" h="317500">
                <a:moveTo>
                  <a:pt x="158750" y="0"/>
                </a:moveTo>
                <a:lnTo>
                  <a:pt x="1682750" y="0"/>
                </a:lnTo>
                <a:cubicBezTo>
                  <a:pt x="1770367" y="0"/>
                  <a:pt x="1841500" y="71133"/>
                  <a:pt x="1841500" y="158750"/>
                </a:cubicBezTo>
                <a:lnTo>
                  <a:pt x="1841500" y="158750"/>
                </a:lnTo>
                <a:cubicBezTo>
                  <a:pt x="1841500" y="246367"/>
                  <a:pt x="1770367" y="317500"/>
                  <a:pt x="1682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125" y="170932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I — IMPLEMENTAR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38125" y="46462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y Modelado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8125" y="964682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8125" y="805932"/>
            <a:ext cx="5699125" cy="2571750"/>
          </a:xfrm>
          <a:custGeom>
            <a:avLst/>
            <a:gdLst/>
            <a:ahLst/>
            <a:cxnLst/>
            <a:rect l="l" t="t" r="r" b="b"/>
            <a:pathLst>
              <a:path w="5699125" h="2571750">
                <a:moveTo>
                  <a:pt x="126993" y="0"/>
                </a:moveTo>
                <a:lnTo>
                  <a:pt x="5572132" y="0"/>
                </a:lnTo>
                <a:cubicBezTo>
                  <a:pt x="5642268" y="0"/>
                  <a:pt x="5699125" y="56857"/>
                  <a:pt x="5699125" y="126993"/>
                </a:cubicBezTo>
                <a:lnTo>
                  <a:pt x="5699125" y="2444757"/>
                </a:lnTo>
                <a:cubicBezTo>
                  <a:pt x="5699125" y="2514893"/>
                  <a:pt x="5642268" y="2571750"/>
                  <a:pt x="5572132" y="2571750"/>
                </a:cubicBezTo>
                <a:lnTo>
                  <a:pt x="126993" y="2571750"/>
                </a:lnTo>
                <a:cubicBezTo>
                  <a:pt x="56857" y="2571750"/>
                  <a:pt x="0" y="2514893"/>
                  <a:pt x="0" y="2444757"/>
                </a:cubicBezTo>
                <a:lnTo>
                  <a:pt x="0" y="126993"/>
                </a:lnTo>
                <a:cubicBezTo>
                  <a:pt x="0" y="56857"/>
                  <a:pt x="56857" y="0"/>
                  <a:pt x="1269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26641" y="99643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5313" y="964682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Lakehouse e Ingesta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6875" y="1313932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92125" y="140918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4344" y="140918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375" y="1409182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Crear Lakehouse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375" y="1599682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lh_covid19_colombia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6875" y="1980682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92125" y="207593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4344" y="207593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375" y="2075932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Crear carpeta raw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375" y="2266432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Files/raw/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6875" y="2647432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92125" y="274268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64344" y="274268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375" y="2742682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Subir CSV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375" y="2933182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casos_covid_19.csv (~300 MB)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38125" y="3504682"/>
            <a:ext cx="5699125" cy="3270250"/>
          </a:xfrm>
          <a:custGeom>
            <a:avLst/>
            <a:gdLst/>
            <a:ahLst/>
            <a:cxnLst/>
            <a:rect l="l" t="t" r="r" b="b"/>
            <a:pathLst>
              <a:path w="5699125" h="3270250">
                <a:moveTo>
                  <a:pt x="126984" y="0"/>
                </a:moveTo>
                <a:lnTo>
                  <a:pt x="5572141" y="0"/>
                </a:lnTo>
                <a:cubicBezTo>
                  <a:pt x="5642272" y="0"/>
                  <a:pt x="5699125" y="56853"/>
                  <a:pt x="5699125" y="126984"/>
                </a:cubicBezTo>
                <a:lnTo>
                  <a:pt x="5699125" y="3143266"/>
                </a:lnTo>
                <a:cubicBezTo>
                  <a:pt x="5699125" y="3213397"/>
                  <a:pt x="5642272" y="3270250"/>
                  <a:pt x="5572141" y="3270250"/>
                </a:cubicBezTo>
                <a:lnTo>
                  <a:pt x="126984" y="3270250"/>
                </a:lnTo>
                <a:cubicBezTo>
                  <a:pt x="56853" y="3270250"/>
                  <a:pt x="0" y="3213397"/>
                  <a:pt x="0" y="3143266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06797" y="369518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95313" y="3663432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Columnas Derivadas Clave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2750" y="4012682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12750" y="4012682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23875" y="410793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Edad_Anios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3875" y="433018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Normaliza edad a años según unidad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2750" y="4679432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12750" y="4679432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23875" y="477468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Grupo_Edad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3875" y="499693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Rangos: 0-17, 18-29, 30-49, 50-64, 65+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12750" y="5346182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412750" y="5346182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23875" y="544143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Es_Fallecido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875" y="566368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 binaria (0/1) para análisis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2750" y="6012932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412750" y="6012932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523875" y="610818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Etnia_Descripcion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3875" y="6330432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Decodifica código étnico a texto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11875" y="520182"/>
            <a:ext cx="5699125" cy="2603500"/>
          </a:xfrm>
          <a:custGeom>
            <a:avLst/>
            <a:gdLst/>
            <a:ahLst/>
            <a:cxnLst/>
            <a:rect l="l" t="t" r="r" b="b"/>
            <a:pathLst>
              <a:path w="5699125" h="2603500">
                <a:moveTo>
                  <a:pt x="126999" y="0"/>
                </a:moveTo>
                <a:lnTo>
                  <a:pt x="5572126" y="0"/>
                </a:lnTo>
                <a:cubicBezTo>
                  <a:pt x="5642266" y="0"/>
                  <a:pt x="5699125" y="56859"/>
                  <a:pt x="5699125" y="126999"/>
                </a:cubicBezTo>
                <a:lnTo>
                  <a:pt x="5699125" y="2476501"/>
                </a:lnTo>
                <a:cubicBezTo>
                  <a:pt x="5699125" y="2546641"/>
                  <a:pt x="5642266" y="2603500"/>
                  <a:pt x="5572126" y="2603500"/>
                </a:cubicBezTo>
                <a:lnTo>
                  <a:pt x="126999" y="2603500"/>
                </a:lnTo>
                <a:cubicBezTo>
                  <a:pt x="56859" y="2603500"/>
                  <a:pt x="0" y="2546641"/>
                  <a:pt x="0" y="2476501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6290469" y="71068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469063" y="678932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Dataflow Gen2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70625" y="1028182"/>
            <a:ext cx="5381625" cy="920750"/>
          </a:xfrm>
          <a:custGeom>
            <a:avLst/>
            <a:gdLst/>
            <a:ahLst/>
            <a:cxnLst/>
            <a:rect l="l" t="t" r="r" b="b"/>
            <a:pathLst>
              <a:path w="5381625" h="920750">
                <a:moveTo>
                  <a:pt x="63504" y="0"/>
                </a:moveTo>
                <a:lnTo>
                  <a:pt x="5318121" y="0"/>
                </a:lnTo>
                <a:cubicBezTo>
                  <a:pt x="5353193" y="0"/>
                  <a:pt x="5381625" y="28432"/>
                  <a:pt x="5381625" y="63504"/>
                </a:cubicBezTo>
                <a:lnTo>
                  <a:pt x="5381625" y="857246"/>
                </a:lnTo>
                <a:cubicBezTo>
                  <a:pt x="5381625" y="892318"/>
                  <a:pt x="5353193" y="920750"/>
                  <a:pt x="531812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365875" y="11234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df_transformacion_covid19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65875" y="13774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Transformaciones de tabla de hechos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65875" y="1631432"/>
            <a:ext cx="619125" cy="222250"/>
          </a:xfrm>
          <a:custGeom>
            <a:avLst/>
            <a:gdLst/>
            <a:ahLst/>
            <a:cxnLst/>
            <a:rect l="l" t="t" r="r" b="b"/>
            <a:pathLst>
              <a:path w="619125" h="222250">
                <a:moveTo>
                  <a:pt x="31751" y="0"/>
                </a:moveTo>
                <a:lnTo>
                  <a:pt x="587374" y="0"/>
                </a:lnTo>
                <a:cubicBezTo>
                  <a:pt x="604910" y="0"/>
                  <a:pt x="619125" y="14215"/>
                  <a:pt x="619125" y="31751"/>
                </a:cubicBezTo>
                <a:lnTo>
                  <a:pt x="619125" y="190499"/>
                </a:lnTo>
                <a:cubicBezTo>
                  <a:pt x="619125" y="208035"/>
                  <a:pt x="604910" y="222250"/>
                  <a:pt x="587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6365875" y="1631432"/>
            <a:ext cx="67468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D94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bloques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047905" y="1631432"/>
            <a:ext cx="762000" cy="222250"/>
          </a:xfrm>
          <a:custGeom>
            <a:avLst/>
            <a:gdLst/>
            <a:ahLst/>
            <a:cxnLst/>
            <a:rect l="l" t="t" r="r" b="b"/>
            <a:pathLst>
              <a:path w="762000" h="222250">
                <a:moveTo>
                  <a:pt x="31751" y="0"/>
                </a:moveTo>
                <a:lnTo>
                  <a:pt x="730249" y="0"/>
                </a:lnTo>
                <a:cubicBezTo>
                  <a:pt x="747785" y="0"/>
                  <a:pt x="762000" y="14215"/>
                  <a:pt x="762000" y="31751"/>
                </a:cubicBezTo>
                <a:lnTo>
                  <a:pt x="762000" y="190499"/>
                </a:lnTo>
                <a:cubicBezTo>
                  <a:pt x="762000" y="208035"/>
                  <a:pt x="747785" y="222250"/>
                  <a:pt x="7302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7047905" y="1631432"/>
            <a:ext cx="81756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D94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 columnas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871222" y="1631432"/>
            <a:ext cx="706438" cy="222250"/>
          </a:xfrm>
          <a:custGeom>
            <a:avLst/>
            <a:gdLst/>
            <a:ahLst/>
            <a:cxnLst/>
            <a:rect l="l" t="t" r="r" b="b"/>
            <a:pathLst>
              <a:path w="706438" h="222250">
                <a:moveTo>
                  <a:pt x="31751" y="0"/>
                </a:moveTo>
                <a:lnTo>
                  <a:pt x="674687" y="0"/>
                </a:lnTo>
                <a:cubicBezTo>
                  <a:pt x="692222" y="0"/>
                  <a:pt x="706438" y="14215"/>
                  <a:pt x="706438" y="31751"/>
                </a:cubicBezTo>
                <a:lnTo>
                  <a:pt x="706438" y="190499"/>
                </a:lnTo>
                <a:cubicBezTo>
                  <a:pt x="706438" y="208035"/>
                  <a:pt x="692222" y="222250"/>
                  <a:pt x="67468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7871222" y="1631432"/>
            <a:ext cx="762000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D948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derivadas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70625" y="2044182"/>
            <a:ext cx="5381625" cy="920750"/>
          </a:xfrm>
          <a:custGeom>
            <a:avLst/>
            <a:gdLst/>
            <a:ahLst/>
            <a:cxnLst/>
            <a:rect l="l" t="t" r="r" b="b"/>
            <a:pathLst>
              <a:path w="5381625" h="920750">
                <a:moveTo>
                  <a:pt x="63504" y="0"/>
                </a:moveTo>
                <a:lnTo>
                  <a:pt x="5318121" y="0"/>
                </a:lnTo>
                <a:cubicBezTo>
                  <a:pt x="5353193" y="0"/>
                  <a:pt x="5381625" y="28432"/>
                  <a:pt x="5381625" y="63504"/>
                </a:cubicBezTo>
                <a:lnTo>
                  <a:pt x="5381625" y="857246"/>
                </a:lnTo>
                <a:cubicBezTo>
                  <a:pt x="5381625" y="892318"/>
                  <a:pt x="5353193" y="920750"/>
                  <a:pt x="5318121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365875" y="21394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df_dimensiones_covid19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65875" y="23934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Tablas de dimensión del esquema estrella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65875" y="2647432"/>
            <a:ext cx="849313" cy="222250"/>
          </a:xfrm>
          <a:custGeom>
            <a:avLst/>
            <a:gdLst/>
            <a:ahLst/>
            <a:cxnLst/>
            <a:rect l="l" t="t" r="r" b="b"/>
            <a:pathLst>
              <a:path w="849313" h="222250">
                <a:moveTo>
                  <a:pt x="31751" y="0"/>
                </a:moveTo>
                <a:lnTo>
                  <a:pt x="817562" y="0"/>
                </a:lnTo>
                <a:cubicBezTo>
                  <a:pt x="835097" y="0"/>
                  <a:pt x="849313" y="14215"/>
                  <a:pt x="849313" y="31751"/>
                </a:cubicBezTo>
                <a:lnTo>
                  <a:pt x="849313" y="190499"/>
                </a:lnTo>
                <a:cubicBezTo>
                  <a:pt x="849313" y="208035"/>
                  <a:pt x="835097" y="222250"/>
                  <a:pt x="8175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6365875" y="2647432"/>
            <a:ext cx="90487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D4E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dim_geografia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281962" y="2647432"/>
            <a:ext cx="777875" cy="222250"/>
          </a:xfrm>
          <a:custGeom>
            <a:avLst/>
            <a:gdLst/>
            <a:ahLst/>
            <a:cxnLst/>
            <a:rect l="l" t="t" r="r" b="b"/>
            <a:pathLst>
              <a:path w="777875" h="222250">
                <a:moveTo>
                  <a:pt x="31751" y="0"/>
                </a:moveTo>
                <a:lnTo>
                  <a:pt x="746124" y="0"/>
                </a:lnTo>
                <a:cubicBezTo>
                  <a:pt x="763660" y="0"/>
                  <a:pt x="777875" y="14215"/>
                  <a:pt x="777875" y="31751"/>
                </a:cubicBezTo>
                <a:lnTo>
                  <a:pt x="777875" y="190499"/>
                </a:lnTo>
                <a:cubicBezTo>
                  <a:pt x="777875" y="208035"/>
                  <a:pt x="763660" y="222250"/>
                  <a:pt x="746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7281962" y="2647432"/>
            <a:ext cx="83343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D2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dim_persona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23337" y="2647432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31751" y="0"/>
                </a:moveTo>
                <a:lnTo>
                  <a:pt x="619124" y="0"/>
                </a:lnTo>
                <a:cubicBezTo>
                  <a:pt x="636660" y="0"/>
                  <a:pt x="650875" y="14215"/>
                  <a:pt x="650875" y="31751"/>
                </a:cubicBezTo>
                <a:lnTo>
                  <a:pt x="650875" y="190499"/>
                </a:lnTo>
                <a:cubicBezTo>
                  <a:pt x="650875" y="208035"/>
                  <a:pt x="636660" y="222250"/>
                  <a:pt x="619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8123337" y="2647432"/>
            <a:ext cx="70643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B4530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dim_fecha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11875" y="3250682"/>
            <a:ext cx="5699125" cy="2254250"/>
          </a:xfrm>
          <a:custGeom>
            <a:avLst/>
            <a:gdLst/>
            <a:ahLst/>
            <a:cxnLst/>
            <a:rect l="l" t="t" r="r" b="b"/>
            <a:pathLst>
              <a:path w="5699125" h="2254250">
                <a:moveTo>
                  <a:pt x="127004" y="0"/>
                </a:moveTo>
                <a:lnTo>
                  <a:pt x="5572121" y="0"/>
                </a:lnTo>
                <a:cubicBezTo>
                  <a:pt x="5642263" y="0"/>
                  <a:pt x="5699125" y="56862"/>
                  <a:pt x="5699125" y="127004"/>
                </a:cubicBezTo>
                <a:lnTo>
                  <a:pt x="5699125" y="2127246"/>
                </a:lnTo>
                <a:cubicBezTo>
                  <a:pt x="5699125" y="2197388"/>
                  <a:pt x="5642263" y="2254250"/>
                  <a:pt x="5572121" y="2254250"/>
                </a:cubicBezTo>
                <a:lnTo>
                  <a:pt x="127004" y="2254250"/>
                </a:lnTo>
                <a:cubicBezTo>
                  <a:pt x="56862" y="2254250"/>
                  <a:pt x="0" y="2197388"/>
                  <a:pt x="0" y="2127246"/>
                </a:cubicBezTo>
                <a:lnTo>
                  <a:pt x="0" y="127004"/>
                </a:lnTo>
                <a:cubicBezTo>
                  <a:pt x="0" y="56909"/>
                  <a:pt x="56909" y="0"/>
                  <a:pt x="1270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5" name="Shape 63"/>
          <p:cNvSpPr/>
          <p:nvPr/>
        </p:nvSpPr>
        <p:spPr>
          <a:xfrm>
            <a:off x="6280547" y="344118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6469063" y="3409432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Semántico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70625" y="3758682"/>
            <a:ext cx="5381625" cy="857250"/>
          </a:xfrm>
          <a:custGeom>
            <a:avLst/>
            <a:gdLst/>
            <a:ahLst/>
            <a:cxnLst/>
            <a:rect l="l" t="t" r="r" b="b"/>
            <a:pathLst>
              <a:path w="5381625" h="857250">
                <a:moveTo>
                  <a:pt x="63497" y="0"/>
                </a:moveTo>
                <a:lnTo>
                  <a:pt x="5318128" y="0"/>
                </a:lnTo>
                <a:cubicBezTo>
                  <a:pt x="5353197" y="0"/>
                  <a:pt x="5381625" y="28428"/>
                  <a:pt x="5381625" y="63497"/>
                </a:cubicBezTo>
                <a:lnTo>
                  <a:pt x="5381625" y="793753"/>
                </a:lnTo>
                <a:cubicBezTo>
                  <a:pt x="5381625" y="828822"/>
                  <a:pt x="5353197" y="857250"/>
                  <a:pt x="5318128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6365875" y="38539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Relaciones Establecidas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65875" y="41079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fact → dim_geografia (Cod_DIVIPOLA_Mpio)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65875" y="433018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fact → dim_fecha (Fecha_Diagnostico)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270625" y="4711182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6365875" y="48064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Configuración Especial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365875" y="5060432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dim_fecha marcada como Date Table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096000" y="5727182"/>
            <a:ext cx="5699125" cy="1047750"/>
          </a:xfrm>
          <a:custGeom>
            <a:avLst/>
            <a:gdLst/>
            <a:ahLst/>
            <a:cxnLst/>
            <a:rect l="l" t="t" r="r" b="b"/>
            <a:pathLst>
              <a:path w="5699125" h="1047750">
                <a:moveTo>
                  <a:pt x="126998" y="0"/>
                </a:moveTo>
                <a:lnTo>
                  <a:pt x="5572127" y="0"/>
                </a:lnTo>
                <a:cubicBezTo>
                  <a:pt x="5642266" y="0"/>
                  <a:pt x="5699125" y="56859"/>
                  <a:pt x="5699125" y="126998"/>
                </a:cubicBezTo>
                <a:lnTo>
                  <a:pt x="5699125" y="920752"/>
                </a:lnTo>
                <a:cubicBezTo>
                  <a:pt x="5699125" y="990891"/>
                  <a:pt x="5642266" y="1047750"/>
                  <a:pt x="5572127" y="1047750"/>
                </a:cubicBezTo>
                <a:lnTo>
                  <a:pt x="126998" y="1047750"/>
                </a:lnTo>
                <a:cubicBezTo>
                  <a:pt x="56859" y="1047750"/>
                  <a:pt x="0" y="990891"/>
                  <a:pt x="0" y="92075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5" name="Shape 73"/>
          <p:cNvSpPr/>
          <p:nvPr/>
        </p:nvSpPr>
        <p:spPr>
          <a:xfrm>
            <a:off x="6308328" y="583037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6453188" y="5790682"/>
            <a:ext cx="527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Hallazgo Clave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238874" y="6187557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esquema estrella hace las medidas DAX más simples y los filtros funcionan correctamente. Un modelo plano habría generado problemas de rendimiento.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1492250" cy="317500"/>
          </a:xfrm>
          <a:custGeom>
            <a:avLst/>
            <a:gdLst/>
            <a:ahLst/>
            <a:cxnLst/>
            <a:rect l="l" t="t" r="r" b="b"/>
            <a:pathLst>
              <a:path w="1492250" h="317500">
                <a:moveTo>
                  <a:pt x="158750" y="0"/>
                </a:moveTo>
                <a:lnTo>
                  <a:pt x="1333500" y="0"/>
                </a:lnTo>
                <a:cubicBezTo>
                  <a:pt x="1421117" y="0"/>
                  <a:pt x="1492250" y="71133"/>
                  <a:pt x="1492250" y="158750"/>
                </a:cubicBezTo>
                <a:lnTo>
                  <a:pt x="1492250" y="158750"/>
                </a:lnTo>
                <a:cubicBezTo>
                  <a:pt x="1492250" y="246367"/>
                  <a:pt x="1421117" y="317500"/>
                  <a:pt x="133350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44500" y="381000"/>
            <a:ext cx="130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O — OPERAR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30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Publicación y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174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Día 5 — Sesión de aprox. 3.5 horas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555750"/>
            <a:ext cx="5699125" cy="3778250"/>
          </a:xfrm>
          <a:custGeom>
            <a:avLst/>
            <a:gdLst/>
            <a:ahLst/>
            <a:cxnLst/>
            <a:rect l="l" t="t" r="r" b="b"/>
            <a:pathLst>
              <a:path w="5699125" h="3778250">
                <a:moveTo>
                  <a:pt x="126987" y="0"/>
                </a:moveTo>
                <a:lnTo>
                  <a:pt x="5572138" y="0"/>
                </a:lnTo>
                <a:cubicBezTo>
                  <a:pt x="5642271" y="0"/>
                  <a:pt x="5699125" y="56854"/>
                  <a:pt x="5699125" y="126987"/>
                </a:cubicBezTo>
                <a:lnTo>
                  <a:pt x="5699125" y="3651263"/>
                </a:lnTo>
                <a:cubicBezTo>
                  <a:pt x="5699125" y="3721396"/>
                  <a:pt x="5642271" y="3778250"/>
                  <a:pt x="5572138" y="3778250"/>
                </a:cubicBezTo>
                <a:lnTo>
                  <a:pt x="126987" y="3778250"/>
                </a:lnTo>
                <a:cubicBezTo>
                  <a:pt x="56854" y="3778250"/>
                  <a:pt x="0" y="3721396"/>
                  <a:pt x="0" y="3651263"/>
                </a:cubicBezTo>
                <a:lnTo>
                  <a:pt x="0" y="126987"/>
                </a:lnTo>
                <a:cubicBezTo>
                  <a:pt x="0" y="56854"/>
                  <a:pt x="56854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15938" y="17462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77484" y="20712"/>
                </a:moveTo>
                <a:cubicBezTo>
                  <a:pt x="80708" y="16278"/>
                  <a:pt x="79716" y="10077"/>
                  <a:pt x="75282" y="6852"/>
                </a:cubicBezTo>
                <a:cubicBezTo>
                  <a:pt x="70848" y="3628"/>
                  <a:pt x="64647" y="4620"/>
                  <a:pt x="61423" y="9054"/>
                </a:cubicBezTo>
                <a:lnTo>
                  <a:pt x="28556" y="54229"/>
                </a:lnTo>
                <a:lnTo>
                  <a:pt x="16929" y="42602"/>
                </a:lnTo>
                <a:cubicBezTo>
                  <a:pt x="13053" y="38726"/>
                  <a:pt x="6759" y="38726"/>
                  <a:pt x="2884" y="42602"/>
                </a:cubicBezTo>
                <a:cubicBezTo>
                  <a:pt x="-992" y="46478"/>
                  <a:pt x="-992" y="52772"/>
                  <a:pt x="2884" y="56648"/>
                </a:cubicBezTo>
                <a:lnTo>
                  <a:pt x="22727" y="76491"/>
                </a:lnTo>
                <a:cubicBezTo>
                  <a:pt x="24774" y="78538"/>
                  <a:pt x="27626" y="79592"/>
                  <a:pt x="30510" y="79375"/>
                </a:cubicBezTo>
                <a:cubicBezTo>
                  <a:pt x="33393" y="79158"/>
                  <a:pt x="36060" y="77670"/>
                  <a:pt x="37765" y="75313"/>
                </a:cubicBezTo>
                <a:lnTo>
                  <a:pt x="77453" y="20743"/>
                </a:lnTo>
                <a:close/>
                <a:moveTo>
                  <a:pt x="117171" y="62880"/>
                </a:moveTo>
                <a:cubicBezTo>
                  <a:pt x="120396" y="58446"/>
                  <a:pt x="119404" y="52245"/>
                  <a:pt x="114970" y="49020"/>
                </a:cubicBezTo>
                <a:cubicBezTo>
                  <a:pt x="110536" y="45796"/>
                  <a:pt x="104335" y="46788"/>
                  <a:pt x="101110" y="51222"/>
                </a:cubicBezTo>
                <a:lnTo>
                  <a:pt x="48400" y="123682"/>
                </a:lnTo>
                <a:lnTo>
                  <a:pt x="26851" y="102133"/>
                </a:lnTo>
                <a:cubicBezTo>
                  <a:pt x="22975" y="98258"/>
                  <a:pt x="16681" y="98258"/>
                  <a:pt x="12805" y="102133"/>
                </a:cubicBezTo>
                <a:cubicBezTo>
                  <a:pt x="8930" y="106009"/>
                  <a:pt x="8930" y="112303"/>
                  <a:pt x="12805" y="116179"/>
                </a:cubicBezTo>
                <a:lnTo>
                  <a:pt x="42571" y="145945"/>
                </a:lnTo>
                <a:cubicBezTo>
                  <a:pt x="44617" y="147991"/>
                  <a:pt x="47470" y="149045"/>
                  <a:pt x="50354" y="148828"/>
                </a:cubicBezTo>
                <a:cubicBezTo>
                  <a:pt x="53237" y="148611"/>
                  <a:pt x="55904" y="147123"/>
                  <a:pt x="57609" y="144766"/>
                </a:cubicBezTo>
                <a:lnTo>
                  <a:pt x="117140" y="6291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74688" y="17145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Verificación del Workspace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6250" y="2063750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91344" y="2278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45344" y="21590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🏠 lh_covid19_colombia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344" y="23495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Lakehouse con zona raw y Tables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250" y="2698750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91344" y="2913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5344" y="27940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📊 fact_casos_covid19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344" y="29845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1,597,707 filas (tras limpieza)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6250" y="3333750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91344" y="3548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5344" y="34290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⚡ df_transformacion_covid19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344" y="36195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Estado: ✓ Completado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3968750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91344" y="4183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45344" y="40640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⚡ df_dimensiones_covid19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5344" y="42545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Estado: ✓ Completado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6250" y="4603750"/>
            <a:ext cx="5381625" cy="571500"/>
          </a:xfrm>
          <a:custGeom>
            <a:avLst/>
            <a:gdLst/>
            <a:ahLst/>
            <a:cxnLst/>
            <a:rect l="l" t="t" r="r" b="b"/>
            <a:pathLst>
              <a:path w="5381625" h="571500">
                <a:moveTo>
                  <a:pt x="63499" y="0"/>
                </a:moveTo>
                <a:lnTo>
                  <a:pt x="5318126" y="0"/>
                </a:lnTo>
                <a:cubicBezTo>
                  <a:pt x="5353195" y="0"/>
                  <a:pt x="5381625" y="28430"/>
                  <a:pt x="5381625" y="63499"/>
                </a:cubicBezTo>
                <a:lnTo>
                  <a:pt x="5381625" y="508001"/>
                </a:lnTo>
                <a:cubicBezTo>
                  <a:pt x="5381625" y="543070"/>
                  <a:pt x="5353195" y="571500"/>
                  <a:pt x="5318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91344" y="4818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5344" y="46990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🔷 sm_covid19_colombia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344" y="4889500"/>
            <a:ext cx="498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relaciones, 13 medidas DAX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7500" y="5461000"/>
            <a:ext cx="11477626" cy="1285033"/>
          </a:xfrm>
          <a:custGeom>
            <a:avLst/>
            <a:gdLst/>
            <a:ahLst/>
            <a:cxnLst/>
            <a:rect l="l" t="t" r="r" b="b"/>
            <a:pathLst>
              <a:path w="5699125" h="2762250">
                <a:moveTo>
                  <a:pt x="127008" y="0"/>
                </a:moveTo>
                <a:lnTo>
                  <a:pt x="5572117" y="0"/>
                </a:lnTo>
                <a:cubicBezTo>
                  <a:pt x="5642261" y="0"/>
                  <a:pt x="5699125" y="56864"/>
                  <a:pt x="5699125" y="127008"/>
                </a:cubicBezTo>
                <a:lnTo>
                  <a:pt x="5699125" y="2635242"/>
                </a:lnTo>
                <a:cubicBezTo>
                  <a:pt x="5699125" y="2705386"/>
                  <a:pt x="5642261" y="2762250"/>
                  <a:pt x="5572117" y="2762250"/>
                </a:cubicBezTo>
                <a:lnTo>
                  <a:pt x="127008" y="2762250"/>
                </a:lnTo>
                <a:cubicBezTo>
                  <a:pt x="56864" y="2762250"/>
                  <a:pt x="0" y="2705386"/>
                  <a:pt x="0" y="2635242"/>
                </a:cubicBezTo>
                <a:lnTo>
                  <a:pt x="0" y="127008"/>
                </a:lnTo>
                <a:cubicBezTo>
                  <a:pt x="0" y="56864"/>
                  <a:pt x="56864" y="0"/>
                  <a:pt x="1270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86172" y="5651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44648" y="148828"/>
                </a:moveTo>
                <a:cubicBezTo>
                  <a:pt x="19999" y="148828"/>
                  <a:pt x="0" y="128829"/>
                  <a:pt x="0" y="104180"/>
                </a:cubicBezTo>
                <a:cubicBezTo>
                  <a:pt x="0" y="84522"/>
                  <a:pt x="12712" y="67841"/>
                  <a:pt x="30355" y="61857"/>
                </a:cubicBezTo>
                <a:cubicBezTo>
                  <a:pt x="29952" y="59469"/>
                  <a:pt x="29766" y="57051"/>
                  <a:pt x="29766" y="54570"/>
                </a:cubicBezTo>
                <a:cubicBezTo>
                  <a:pt x="29766" y="29921"/>
                  <a:pt x="49764" y="9922"/>
                  <a:pt x="74414" y="9922"/>
                </a:cubicBezTo>
                <a:cubicBezTo>
                  <a:pt x="91591" y="9922"/>
                  <a:pt x="106505" y="19627"/>
                  <a:pt x="113978" y="33827"/>
                </a:cubicBezTo>
                <a:cubicBezTo>
                  <a:pt x="118380" y="31254"/>
                  <a:pt x="123527" y="29766"/>
                  <a:pt x="128984" y="29766"/>
                </a:cubicBezTo>
                <a:cubicBezTo>
                  <a:pt x="145417" y="29766"/>
                  <a:pt x="158750" y="43098"/>
                  <a:pt x="158750" y="59531"/>
                </a:cubicBezTo>
                <a:cubicBezTo>
                  <a:pt x="158750" y="64399"/>
                  <a:pt x="157572" y="69019"/>
                  <a:pt x="155494" y="73081"/>
                </a:cubicBezTo>
                <a:cubicBezTo>
                  <a:pt x="169137" y="79375"/>
                  <a:pt x="178594" y="93142"/>
                  <a:pt x="178594" y="109141"/>
                </a:cubicBezTo>
                <a:cubicBezTo>
                  <a:pt x="178594" y="131062"/>
                  <a:pt x="160827" y="148828"/>
                  <a:pt x="138906" y="148828"/>
                </a:cubicBezTo>
                <a:lnTo>
                  <a:pt x="44648" y="148828"/>
                </a:lnTo>
                <a:close/>
                <a:moveTo>
                  <a:pt x="94568" y="59221"/>
                </a:moveTo>
                <a:cubicBezTo>
                  <a:pt x="91653" y="56307"/>
                  <a:pt x="86940" y="56307"/>
                  <a:pt x="84057" y="59221"/>
                </a:cubicBezTo>
                <a:lnTo>
                  <a:pt x="61733" y="81545"/>
                </a:lnTo>
                <a:cubicBezTo>
                  <a:pt x="58818" y="84460"/>
                  <a:pt x="58818" y="89173"/>
                  <a:pt x="61733" y="92056"/>
                </a:cubicBezTo>
                <a:cubicBezTo>
                  <a:pt x="64647" y="94940"/>
                  <a:pt x="69360" y="94971"/>
                  <a:pt x="72244" y="92056"/>
                </a:cubicBezTo>
                <a:lnTo>
                  <a:pt x="81855" y="82445"/>
                </a:lnTo>
                <a:lnTo>
                  <a:pt x="81855" y="114102"/>
                </a:lnTo>
                <a:cubicBezTo>
                  <a:pt x="81855" y="118225"/>
                  <a:pt x="85173" y="121543"/>
                  <a:pt x="89297" y="121543"/>
                </a:cubicBezTo>
                <a:cubicBezTo>
                  <a:pt x="93421" y="121543"/>
                  <a:pt x="96738" y="118225"/>
                  <a:pt x="96738" y="114102"/>
                </a:cubicBezTo>
                <a:lnTo>
                  <a:pt x="96738" y="82445"/>
                </a:lnTo>
                <a:lnTo>
                  <a:pt x="106350" y="92056"/>
                </a:lnTo>
                <a:cubicBezTo>
                  <a:pt x="109265" y="94971"/>
                  <a:pt x="113978" y="94971"/>
                  <a:pt x="116861" y="92056"/>
                </a:cubicBezTo>
                <a:cubicBezTo>
                  <a:pt x="119745" y="89142"/>
                  <a:pt x="119776" y="84429"/>
                  <a:pt x="116861" y="81545"/>
                </a:cubicBezTo>
                <a:lnTo>
                  <a:pt x="94537" y="5922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74688" y="56197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Publicación en Power BI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6250" y="5969000"/>
            <a:ext cx="3013399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71500" y="606425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Despliegue Exitoso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500" y="6318250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Publicación en workspace lh_covid19_colombia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69976" y="5970944"/>
            <a:ext cx="3013399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706812" y="6030556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Verificación de Interactividad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706811" y="6280668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Cross-filtering funciona correctamente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199312" y="5937250"/>
            <a:ext cx="3013399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7294563" y="6019541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Sincronización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94563" y="6276003"/>
            <a:ext cx="525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 Connection con Lakehouse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90500"/>
            <a:ext cx="5699125" cy="3143250"/>
          </a:xfrm>
          <a:custGeom>
            <a:avLst/>
            <a:gdLst/>
            <a:ahLst/>
            <a:cxnLst/>
            <a:rect l="l" t="t" r="r" b="b"/>
            <a:pathLst>
              <a:path w="5699125" h="3143250">
                <a:moveTo>
                  <a:pt x="126987" y="0"/>
                </a:moveTo>
                <a:lnTo>
                  <a:pt x="5572138" y="0"/>
                </a:lnTo>
                <a:cubicBezTo>
                  <a:pt x="5642271" y="0"/>
                  <a:pt x="5699125" y="56854"/>
                  <a:pt x="5699125" y="126987"/>
                </a:cubicBezTo>
                <a:lnTo>
                  <a:pt x="5699125" y="3016263"/>
                </a:lnTo>
                <a:cubicBezTo>
                  <a:pt x="5699125" y="3086396"/>
                  <a:pt x="5642271" y="3143250"/>
                  <a:pt x="5572138" y="3143250"/>
                </a:cubicBezTo>
                <a:lnTo>
                  <a:pt x="126987" y="3143250"/>
                </a:lnTo>
                <a:cubicBezTo>
                  <a:pt x="56854" y="3143250"/>
                  <a:pt x="0" y="3086396"/>
                  <a:pt x="0" y="301626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6353969" y="381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532563" y="3492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Interactivo</a:t>
            </a:r>
            <a:endParaRPr lang="en-US" sz="1600" dirty="0"/>
          </a:p>
        </p:txBody>
      </p:sp>
      <p:pic>
        <p:nvPicPr>
          <p:cNvPr id="44" name="Image 0" descr="https://kimi-web-img.moonshot.cn/img/www.lits.services/a7da3eed4024712c9dbd875889c3187062f81e02.png"/>
          <p:cNvPicPr>
            <a:picLocks noChangeAspect="1"/>
          </p:cNvPicPr>
          <p:nvPr/>
        </p:nvPicPr>
        <p:blipFill>
          <a:blip r:embed="rId3"/>
          <a:srcRect t="24850" b="24850"/>
          <a:stretch/>
        </p:blipFill>
        <p:spPr>
          <a:xfrm>
            <a:off x="6334125" y="698500"/>
            <a:ext cx="5381625" cy="1524000"/>
          </a:xfrm>
          <a:prstGeom prst="roundRect">
            <a:avLst>
              <a:gd name="adj" fmla="val 625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6334125" y="2349500"/>
            <a:ext cx="1730375" cy="825500"/>
          </a:xfrm>
          <a:custGeom>
            <a:avLst/>
            <a:gdLst/>
            <a:ahLst/>
            <a:cxnLst/>
            <a:rect l="l" t="t" r="r" b="b"/>
            <a:pathLst>
              <a:path w="1730375" h="825500">
                <a:moveTo>
                  <a:pt x="95246" y="0"/>
                </a:moveTo>
                <a:lnTo>
                  <a:pt x="1635129" y="0"/>
                </a:lnTo>
                <a:cubicBezTo>
                  <a:pt x="1687732" y="0"/>
                  <a:pt x="1730375" y="42643"/>
                  <a:pt x="1730375" y="95246"/>
                </a:cubicBezTo>
                <a:lnTo>
                  <a:pt x="1730375" y="730254"/>
                </a:lnTo>
                <a:cubicBezTo>
                  <a:pt x="1730375" y="782857"/>
                  <a:pt x="1687732" y="825500"/>
                  <a:pt x="1635129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3"/>
          <p:cNvSpPr/>
          <p:nvPr/>
        </p:nvSpPr>
        <p:spPr>
          <a:xfrm>
            <a:off x="7104063" y="2444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4"/>
          <p:cNvSpPr/>
          <p:nvPr/>
        </p:nvSpPr>
        <p:spPr>
          <a:xfrm>
            <a:off x="6397625" y="26987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Filtros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397625" y="28892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Año, Depto, Sexo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159750" y="2349500"/>
            <a:ext cx="1730375" cy="825500"/>
          </a:xfrm>
          <a:custGeom>
            <a:avLst/>
            <a:gdLst/>
            <a:ahLst/>
            <a:cxnLst/>
            <a:rect l="l" t="t" r="r" b="b"/>
            <a:pathLst>
              <a:path w="1730375" h="825500">
                <a:moveTo>
                  <a:pt x="95246" y="0"/>
                </a:moveTo>
                <a:lnTo>
                  <a:pt x="1635129" y="0"/>
                </a:lnTo>
                <a:cubicBezTo>
                  <a:pt x="1687732" y="0"/>
                  <a:pt x="1730375" y="42643"/>
                  <a:pt x="1730375" y="95246"/>
                </a:cubicBezTo>
                <a:lnTo>
                  <a:pt x="1730375" y="730254"/>
                </a:lnTo>
                <a:cubicBezTo>
                  <a:pt x="1730375" y="782857"/>
                  <a:pt x="1687732" y="825500"/>
                  <a:pt x="1635129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Shape 47"/>
          <p:cNvSpPr/>
          <p:nvPr/>
        </p:nvSpPr>
        <p:spPr>
          <a:xfrm>
            <a:off x="8929688" y="2444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7859"/>
                </a:moveTo>
                <a:cubicBezTo>
                  <a:pt x="190500" y="13729"/>
                  <a:pt x="188379" y="9897"/>
                  <a:pt x="184845" y="7739"/>
                </a:cubicBezTo>
                <a:cubicBezTo>
                  <a:pt x="181310" y="5581"/>
                  <a:pt x="176957" y="5358"/>
                  <a:pt x="173273" y="7218"/>
                </a:cubicBezTo>
                <a:lnTo>
                  <a:pt x="130039" y="28835"/>
                </a:lnTo>
                <a:lnTo>
                  <a:pt x="63289" y="6548"/>
                </a:lnTo>
                <a:cubicBezTo>
                  <a:pt x="60275" y="5544"/>
                  <a:pt x="57038" y="5767"/>
                  <a:pt x="54211" y="7181"/>
                </a:cubicBezTo>
                <a:lnTo>
                  <a:pt x="6586" y="30993"/>
                </a:lnTo>
                <a:cubicBezTo>
                  <a:pt x="2530" y="33040"/>
                  <a:pt x="0" y="37170"/>
                  <a:pt x="0" y="41672"/>
                </a:cubicBezTo>
                <a:lnTo>
                  <a:pt x="0" y="172641"/>
                </a:lnTo>
                <a:cubicBezTo>
                  <a:pt x="0" y="176771"/>
                  <a:pt x="2121" y="180603"/>
                  <a:pt x="5655" y="182761"/>
                </a:cubicBezTo>
                <a:cubicBezTo>
                  <a:pt x="9190" y="184919"/>
                  <a:pt x="13543" y="185142"/>
                  <a:pt x="17227" y="183282"/>
                </a:cubicBezTo>
                <a:lnTo>
                  <a:pt x="60424" y="161665"/>
                </a:lnTo>
                <a:lnTo>
                  <a:pt x="127174" y="183914"/>
                </a:lnTo>
                <a:cubicBezTo>
                  <a:pt x="130187" y="184919"/>
                  <a:pt x="133424" y="184696"/>
                  <a:pt x="136252" y="183282"/>
                </a:cubicBezTo>
                <a:lnTo>
                  <a:pt x="183877" y="159469"/>
                </a:lnTo>
                <a:cubicBezTo>
                  <a:pt x="187896" y="157460"/>
                  <a:pt x="190463" y="153330"/>
                  <a:pt x="190463" y="148828"/>
                </a:cubicBezTo>
                <a:lnTo>
                  <a:pt x="190463" y="17859"/>
                </a:lnTo>
                <a:close/>
                <a:moveTo>
                  <a:pt x="71438" y="140233"/>
                </a:moveTo>
                <a:lnTo>
                  <a:pt x="71438" y="34379"/>
                </a:lnTo>
                <a:lnTo>
                  <a:pt x="119063" y="50267"/>
                </a:lnTo>
                <a:lnTo>
                  <a:pt x="119063" y="156121"/>
                </a:lnTo>
                <a:lnTo>
                  <a:pt x="71438" y="140233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8"/>
          <p:cNvSpPr/>
          <p:nvPr/>
        </p:nvSpPr>
        <p:spPr>
          <a:xfrm>
            <a:off x="8223250" y="26987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Mapas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223250" y="28892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Coropléticos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985375" y="2349500"/>
            <a:ext cx="1730375" cy="825500"/>
          </a:xfrm>
          <a:custGeom>
            <a:avLst/>
            <a:gdLst/>
            <a:ahLst/>
            <a:cxnLst/>
            <a:rect l="l" t="t" r="r" b="b"/>
            <a:pathLst>
              <a:path w="1730375" h="825500">
                <a:moveTo>
                  <a:pt x="95246" y="0"/>
                </a:moveTo>
                <a:lnTo>
                  <a:pt x="1635129" y="0"/>
                </a:lnTo>
                <a:cubicBezTo>
                  <a:pt x="1687732" y="0"/>
                  <a:pt x="1730375" y="42643"/>
                  <a:pt x="1730375" y="95246"/>
                </a:cubicBezTo>
                <a:lnTo>
                  <a:pt x="1730375" y="730254"/>
                </a:lnTo>
                <a:cubicBezTo>
                  <a:pt x="1730375" y="782857"/>
                  <a:pt x="1687732" y="825500"/>
                  <a:pt x="1635129" y="825500"/>
                </a:cubicBezTo>
                <a:lnTo>
                  <a:pt x="95246" y="825500"/>
                </a:lnTo>
                <a:cubicBezTo>
                  <a:pt x="42643" y="825500"/>
                  <a:pt x="0" y="782857"/>
                  <a:pt x="0" y="730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Shape 51"/>
          <p:cNvSpPr/>
          <p:nvPr/>
        </p:nvSpPr>
        <p:spPr>
          <a:xfrm>
            <a:off x="10743406" y="2444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2"/>
          <p:cNvSpPr/>
          <p:nvPr/>
        </p:nvSpPr>
        <p:spPr>
          <a:xfrm>
            <a:off x="10048875" y="26987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Visuales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0048875" y="2889250"/>
            <a:ext cx="160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A72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Múltiples tipos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175375" y="3524250"/>
            <a:ext cx="5699125" cy="1809750"/>
          </a:xfrm>
          <a:custGeom>
            <a:avLst/>
            <a:gdLst/>
            <a:ahLst/>
            <a:cxnLst/>
            <a:rect l="l" t="t" r="r" b="b"/>
            <a:pathLst>
              <a:path w="5699125" h="1968500">
                <a:moveTo>
                  <a:pt x="127008" y="0"/>
                </a:moveTo>
                <a:lnTo>
                  <a:pt x="5572117" y="0"/>
                </a:lnTo>
                <a:cubicBezTo>
                  <a:pt x="5642262" y="0"/>
                  <a:pt x="5699125" y="56863"/>
                  <a:pt x="5699125" y="127008"/>
                </a:cubicBezTo>
                <a:lnTo>
                  <a:pt x="5699125" y="1841492"/>
                </a:lnTo>
                <a:cubicBezTo>
                  <a:pt x="5699125" y="1911637"/>
                  <a:pt x="5642262" y="1968500"/>
                  <a:pt x="5572117" y="1968500"/>
                </a:cubicBezTo>
                <a:lnTo>
                  <a:pt x="127008" y="1968500"/>
                </a:lnTo>
                <a:cubicBezTo>
                  <a:pt x="56863" y="1968500"/>
                  <a:pt x="0" y="1911637"/>
                  <a:pt x="0" y="1841492"/>
                </a:cubicBezTo>
                <a:lnTo>
                  <a:pt x="0" y="127008"/>
                </a:lnTo>
                <a:cubicBezTo>
                  <a:pt x="0" y="56910"/>
                  <a:pt x="56910" y="0"/>
                  <a:pt x="1270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8" name="Shape 55"/>
          <p:cNvSpPr/>
          <p:nvPr/>
        </p:nvSpPr>
        <p:spPr>
          <a:xfrm>
            <a:off x="6353969" y="3651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4741" y="0"/>
                </a:moveTo>
                <a:lnTo>
                  <a:pt x="114195" y="0"/>
                </a:lnTo>
                <a:cubicBezTo>
                  <a:pt x="122411" y="0"/>
                  <a:pt x="129108" y="6759"/>
                  <a:pt x="128798" y="14945"/>
                </a:cubicBezTo>
                <a:cubicBezTo>
                  <a:pt x="128736" y="16588"/>
                  <a:pt x="128674" y="18231"/>
                  <a:pt x="128581" y="19844"/>
                </a:cubicBezTo>
                <a:lnTo>
                  <a:pt x="143960" y="19844"/>
                </a:lnTo>
                <a:cubicBezTo>
                  <a:pt x="152053" y="19844"/>
                  <a:pt x="159184" y="26541"/>
                  <a:pt x="158564" y="35285"/>
                </a:cubicBezTo>
                <a:cubicBezTo>
                  <a:pt x="156239" y="67438"/>
                  <a:pt x="139805" y="85111"/>
                  <a:pt x="121977" y="94351"/>
                </a:cubicBezTo>
                <a:cubicBezTo>
                  <a:pt x="117078" y="96893"/>
                  <a:pt x="112086" y="98785"/>
                  <a:pt x="107342" y="100180"/>
                </a:cubicBezTo>
                <a:cubicBezTo>
                  <a:pt x="101079" y="109048"/>
                  <a:pt x="94568" y="113729"/>
                  <a:pt x="89390" y="116241"/>
                </a:cubicBezTo>
                <a:lnTo>
                  <a:pt x="89390" y="138906"/>
                </a:lnTo>
                <a:lnTo>
                  <a:pt x="109234" y="138906"/>
                </a:lnTo>
                <a:cubicBezTo>
                  <a:pt x="114722" y="138906"/>
                  <a:pt x="119156" y="143340"/>
                  <a:pt x="119156" y="148828"/>
                </a:cubicBezTo>
                <a:cubicBezTo>
                  <a:pt x="119156" y="154316"/>
                  <a:pt x="114722" y="158750"/>
                  <a:pt x="109234" y="158750"/>
                </a:cubicBezTo>
                <a:lnTo>
                  <a:pt x="49702" y="158750"/>
                </a:lnTo>
                <a:cubicBezTo>
                  <a:pt x="44214" y="158750"/>
                  <a:pt x="39781" y="154316"/>
                  <a:pt x="39781" y="148828"/>
                </a:cubicBezTo>
                <a:cubicBezTo>
                  <a:pt x="39781" y="143340"/>
                  <a:pt x="44214" y="138906"/>
                  <a:pt x="49702" y="138906"/>
                </a:cubicBezTo>
                <a:lnTo>
                  <a:pt x="69546" y="138906"/>
                </a:lnTo>
                <a:lnTo>
                  <a:pt x="69546" y="116241"/>
                </a:lnTo>
                <a:cubicBezTo>
                  <a:pt x="64585" y="113854"/>
                  <a:pt x="58415" y="109420"/>
                  <a:pt x="52400" y="101265"/>
                </a:cubicBezTo>
                <a:cubicBezTo>
                  <a:pt x="46695" y="99777"/>
                  <a:pt x="40494" y="97513"/>
                  <a:pt x="34448" y="94103"/>
                </a:cubicBezTo>
                <a:cubicBezTo>
                  <a:pt x="17673" y="84708"/>
                  <a:pt x="2542" y="67004"/>
                  <a:pt x="372" y="35223"/>
                </a:cubicBezTo>
                <a:cubicBezTo>
                  <a:pt x="-217" y="26510"/>
                  <a:pt x="6883" y="19813"/>
                  <a:pt x="14976" y="19813"/>
                </a:cubicBezTo>
                <a:lnTo>
                  <a:pt x="30355" y="19813"/>
                </a:lnTo>
                <a:cubicBezTo>
                  <a:pt x="30262" y="18200"/>
                  <a:pt x="30200" y="16588"/>
                  <a:pt x="30138" y="14914"/>
                </a:cubicBezTo>
                <a:cubicBezTo>
                  <a:pt x="29828" y="6697"/>
                  <a:pt x="36525" y="-31"/>
                  <a:pt x="44741" y="-31"/>
                </a:cubicBezTo>
                <a:close/>
                <a:moveTo>
                  <a:pt x="31471" y="34727"/>
                </a:moveTo>
                <a:lnTo>
                  <a:pt x="15224" y="34727"/>
                </a:lnTo>
                <a:cubicBezTo>
                  <a:pt x="17146" y="60989"/>
                  <a:pt x="29208" y="74135"/>
                  <a:pt x="41641" y="81111"/>
                </a:cubicBezTo>
                <a:cubicBezTo>
                  <a:pt x="37176" y="69546"/>
                  <a:pt x="33486" y="54446"/>
                  <a:pt x="31471" y="34727"/>
                </a:cubicBezTo>
                <a:close/>
                <a:moveTo>
                  <a:pt x="117822" y="79623"/>
                </a:moveTo>
                <a:cubicBezTo>
                  <a:pt x="130380" y="72244"/>
                  <a:pt x="141728" y="59128"/>
                  <a:pt x="143650" y="34727"/>
                </a:cubicBezTo>
                <a:lnTo>
                  <a:pt x="127434" y="34727"/>
                </a:lnTo>
                <a:cubicBezTo>
                  <a:pt x="125512" y="53609"/>
                  <a:pt x="122039" y="68275"/>
                  <a:pt x="117822" y="79623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6"/>
          <p:cNvSpPr/>
          <p:nvPr/>
        </p:nvSpPr>
        <p:spPr>
          <a:xfrm>
            <a:off x="6532563" y="361950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Logros de la Fase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34125" y="3968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8"/>
          <p:cNvSpPr/>
          <p:nvPr/>
        </p:nvSpPr>
        <p:spPr>
          <a:xfrm>
            <a:off x="6306344" y="39687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683375" y="3968750"/>
            <a:ext cx="2627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interactivo publicado y funcional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334125" y="431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61"/>
          <p:cNvSpPr/>
          <p:nvPr/>
        </p:nvSpPr>
        <p:spPr>
          <a:xfrm>
            <a:off x="6306344" y="43180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683375" y="4318000"/>
            <a:ext cx="2468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Filtros cruzados operando correctamente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334125" y="4667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Text 64"/>
          <p:cNvSpPr/>
          <p:nvPr/>
        </p:nvSpPr>
        <p:spPr>
          <a:xfrm>
            <a:off x="6306344" y="46672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6683375" y="4667250"/>
            <a:ext cx="24447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Sincronización en tiempo real con origen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334125" y="5016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0" name="Text 67"/>
          <p:cNvSpPr/>
          <p:nvPr/>
        </p:nvSpPr>
        <p:spPr>
          <a:xfrm>
            <a:off x="6306344" y="50165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6683375" y="5016500"/>
            <a:ext cx="2555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Todas las preguntas analíticas respondidas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 DEL ANÁLISIS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Hallazgos Principales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Descubrimientos clave del análisis de 1.6M+ registros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771650"/>
            <a:ext cx="3705225" cy="3181350"/>
          </a:xfrm>
          <a:custGeom>
            <a:avLst/>
            <a:gdLst/>
            <a:ahLst/>
            <a:cxnLst/>
            <a:rect l="l" t="t" r="r" b="b"/>
            <a:pathLst>
              <a:path w="3705225" h="3181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028963"/>
                </a:lnTo>
                <a:cubicBezTo>
                  <a:pt x="3705225" y="3113124"/>
                  <a:pt x="3636999" y="3181350"/>
                  <a:pt x="3552838" y="3181350"/>
                </a:cubicBezTo>
                <a:lnTo>
                  <a:pt x="152387" y="3181350"/>
                </a:lnTo>
                <a:cubicBezTo>
                  <a:pt x="68226" y="3181350"/>
                  <a:pt x="0" y="3113124"/>
                  <a:pt x="0" y="302896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81000" y="1771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7150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23875" y="1981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0764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Dinámica Geográfica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590800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7051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🏙️ Dominancia Urbana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009900"/>
            <a:ext cx="3171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Bogotá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lidera con ~0.35M casos, seguida por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Antioquia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Valle del Cauca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733800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85800" y="38481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📈 Pico en 2021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152900"/>
            <a:ext cx="3171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Volumen superó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1.1M registros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2021, caída drástica desde 2022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1721" y="1771650"/>
            <a:ext cx="3705225" cy="3181350"/>
          </a:xfrm>
          <a:custGeom>
            <a:avLst/>
            <a:gdLst/>
            <a:ahLst/>
            <a:cxnLst/>
            <a:rect l="l" t="t" r="r" b="b"/>
            <a:pathLst>
              <a:path w="3705225" h="3181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028963"/>
                </a:lnTo>
                <a:cubicBezTo>
                  <a:pt x="3705225" y="3113124"/>
                  <a:pt x="3636999" y="3181350"/>
                  <a:pt x="3552838" y="3181350"/>
                </a:cubicBezTo>
                <a:lnTo>
                  <a:pt x="152387" y="3181350"/>
                </a:lnTo>
                <a:cubicBezTo>
                  <a:pt x="68226" y="3181350"/>
                  <a:pt x="0" y="3113124"/>
                  <a:pt x="0" y="302896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241721" y="1771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432221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384596" y="1981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03721" y="20764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Desenlace Clínico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2221" y="2590800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46521" y="27051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🦠 Vectores de Transmisión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46521" y="3009900"/>
            <a:ext cx="3171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65.01%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comunitario,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34.76%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relacionado,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0.23%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importado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2221" y="3733800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546521" y="38481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⚠️ Punto de Inflexión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46521" y="4152900"/>
            <a:ext cx="3171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los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 años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proporción de fallecimientos aumenta significativamente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02561" y="1771650"/>
            <a:ext cx="3705225" cy="3181350"/>
          </a:xfrm>
          <a:custGeom>
            <a:avLst/>
            <a:gdLst/>
            <a:ahLst/>
            <a:cxnLst/>
            <a:rect l="l" t="t" r="r" b="b"/>
            <a:pathLst>
              <a:path w="3705225" h="3181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028963"/>
                </a:lnTo>
                <a:cubicBezTo>
                  <a:pt x="3705225" y="3113124"/>
                  <a:pt x="3636999" y="3181350"/>
                  <a:pt x="3552838" y="3181350"/>
                </a:cubicBezTo>
                <a:lnTo>
                  <a:pt x="152387" y="3181350"/>
                </a:lnTo>
                <a:cubicBezTo>
                  <a:pt x="68226" y="3181350"/>
                  <a:pt x="0" y="3113124"/>
                  <a:pt x="0" y="302896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8102561" y="1771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8293061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8245436" y="1981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64561" y="207645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de Riesgo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93061" y="2590800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B5C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8407361" y="27051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👥 Brecha Generacional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07361" y="3009900"/>
            <a:ext cx="3171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Recuperados: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30.78 años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Fallecidos: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61.22 años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(diferencia &gt;30 años)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93061" y="3733800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B5C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8407361" y="38481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🏛️ Vulnerabilidad Étnica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07361" y="4152900"/>
            <a:ext cx="3171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MOKANA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r>
              <a:rPr lang="en-US" sz="1200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ZENU</a:t>
            </a:r>
            <a:r>
              <a:rPr lang="en-US" sz="12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tasas de mortalidad &gt;25% en casos reportados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1000" y="5105400"/>
            <a:ext cx="5638800" cy="1638300"/>
          </a:xfrm>
          <a:custGeom>
            <a:avLst/>
            <a:gdLst/>
            <a:ahLst/>
            <a:cxnLst/>
            <a:rect l="l" t="t" r="r" b="b"/>
            <a:pathLst>
              <a:path w="5638800" h="1638300">
                <a:moveTo>
                  <a:pt x="152395" y="0"/>
                </a:moveTo>
                <a:lnTo>
                  <a:pt x="5486405" y="0"/>
                </a:lnTo>
                <a:cubicBezTo>
                  <a:pt x="5570571" y="0"/>
                  <a:pt x="5638800" y="68229"/>
                  <a:pt x="5638800" y="152395"/>
                </a:cubicBezTo>
                <a:lnTo>
                  <a:pt x="5638800" y="1485905"/>
                </a:lnTo>
                <a:cubicBezTo>
                  <a:pt x="5638800" y="1570071"/>
                  <a:pt x="5570571" y="1638300"/>
                  <a:pt x="548640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595313" y="5334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809625" y="52959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Correlación Edad-Mortalidad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200" y="5715000"/>
            <a:ext cx="116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0.78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3400" y="62484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Correlación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728788" y="5848350"/>
            <a:ext cx="4181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 extremadamente alto que confirma que la 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edad es el predictor dominante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mortalidad por COVID-19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5105400"/>
            <a:ext cx="5638800" cy="1638300"/>
          </a:xfrm>
          <a:custGeom>
            <a:avLst/>
            <a:gdLst/>
            <a:ahLst/>
            <a:cxnLst/>
            <a:rect l="l" t="t" r="r" b="b"/>
            <a:pathLst>
              <a:path w="5638800" h="1638300">
                <a:moveTo>
                  <a:pt x="152395" y="0"/>
                </a:moveTo>
                <a:lnTo>
                  <a:pt x="5486405" y="0"/>
                </a:lnTo>
                <a:cubicBezTo>
                  <a:pt x="5570571" y="0"/>
                  <a:pt x="5638800" y="68229"/>
                  <a:pt x="5638800" y="152395"/>
                </a:cubicBezTo>
                <a:lnTo>
                  <a:pt x="5638800" y="1485905"/>
                </a:lnTo>
                <a:cubicBezTo>
                  <a:pt x="5638800" y="1570071"/>
                  <a:pt x="5570571" y="1638300"/>
                  <a:pt x="5486405" y="1638300"/>
                </a:cubicBezTo>
                <a:lnTo>
                  <a:pt x="152395" y="1638300"/>
                </a:lnTo>
                <a:cubicBezTo>
                  <a:pt x="68229" y="1638300"/>
                  <a:pt x="0" y="1570071"/>
                  <a:pt x="0" y="14859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6386513" y="5334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6600825" y="52959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Limitaciones Identificadas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6988" y="57974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6619875" y="5721218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comorbilidades:</a:t>
            </a: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 incluye diabetes, hipertensión, etc.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6988" y="61022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6619875" y="6026018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Dependencia local:</a:t>
            </a:r>
            <a:r>
              <a:rPr lang="en-US" sz="12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Posibles subregistros en áreas rurales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APRENDIZAJES DEL PROYECTO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6032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Reflexiones y Competencias Desarrolladas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79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Transformar datos crudos en inteligencia de negocios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460500"/>
            <a:ext cx="5699125" cy="3365500"/>
          </a:xfrm>
          <a:custGeom>
            <a:avLst/>
            <a:gdLst/>
            <a:ahLst/>
            <a:cxnLst/>
            <a:rect l="l" t="t" r="r" b="b"/>
            <a:pathLst>
              <a:path w="5699125" h="3365500">
                <a:moveTo>
                  <a:pt x="127014" y="0"/>
                </a:moveTo>
                <a:lnTo>
                  <a:pt x="5572111" y="0"/>
                </a:lnTo>
                <a:cubicBezTo>
                  <a:pt x="5642259" y="0"/>
                  <a:pt x="5699125" y="56866"/>
                  <a:pt x="5699125" y="127014"/>
                </a:cubicBezTo>
                <a:lnTo>
                  <a:pt x="5699125" y="3238486"/>
                </a:lnTo>
                <a:cubicBezTo>
                  <a:pt x="5699125" y="3308634"/>
                  <a:pt x="5642259" y="3365500"/>
                  <a:pt x="5572111" y="3365500"/>
                </a:cubicBezTo>
                <a:lnTo>
                  <a:pt x="127014" y="3365500"/>
                </a:lnTo>
                <a:cubicBezTo>
                  <a:pt x="56866" y="3365500"/>
                  <a:pt x="0" y="3308634"/>
                  <a:pt x="0" y="3238486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96094" y="1651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74688" y="16192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Competencias Técnicas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2125" y="19685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92125" y="19685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03250" y="2063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Fabric End-to-End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" y="2286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completa: Lakehouse, Dataflow Gen2, Semantic Model, Power BI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2125" y="26670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92125" y="26670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03250" y="2762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 con Dataflow Gen2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" y="2984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Organización en bloques lógicos (A-G) reproducible y auditable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125" y="33655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92125" y="33655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03250" y="34607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Diseño de Modelos Semánticos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" y="36830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Esquema estrella, Date Table, medidas DAX clasificadas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2125" y="40640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31750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31750" y="603250"/>
                </a:lnTo>
                <a:cubicBezTo>
                  <a:pt x="14215" y="603250"/>
                  <a:pt x="0" y="589035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92125" y="40640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3175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31750" y="603250"/>
                </a:lnTo>
                <a:cubicBezTo>
                  <a:pt x="14227" y="603250"/>
                  <a:pt x="0" y="589023"/>
                  <a:pt x="0" y="571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03250" y="415925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Fórmulas M Avanzadas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" y="4381500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List.Dates, Date.ToText con 'es-CO', lógica condicional anidada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4953000"/>
            <a:ext cx="5699125" cy="1587500"/>
          </a:xfrm>
          <a:custGeom>
            <a:avLst/>
            <a:gdLst/>
            <a:ahLst/>
            <a:cxnLst/>
            <a:rect l="l" t="t" r="r" b="b"/>
            <a:pathLst>
              <a:path w="5699125" h="1587500">
                <a:moveTo>
                  <a:pt x="127000" y="0"/>
                </a:moveTo>
                <a:lnTo>
                  <a:pt x="5572125" y="0"/>
                </a:lnTo>
                <a:cubicBezTo>
                  <a:pt x="5642218" y="0"/>
                  <a:pt x="5699125" y="56907"/>
                  <a:pt x="5699125" y="127000"/>
                </a:cubicBezTo>
                <a:lnTo>
                  <a:pt x="5699125" y="1460500"/>
                </a:lnTo>
                <a:cubicBezTo>
                  <a:pt x="5699125" y="1530593"/>
                  <a:pt x="5642218" y="1587500"/>
                  <a:pt x="5572125" y="1587500"/>
                </a:cubicBezTo>
                <a:lnTo>
                  <a:pt x="127000" y="1587500"/>
                </a:lnTo>
                <a:cubicBezTo>
                  <a:pt x="56907" y="1587500"/>
                  <a:pt x="0" y="1530593"/>
                  <a:pt x="0" y="14605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96094" y="5143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4180" y="109141"/>
                </a:moveTo>
                <a:cubicBezTo>
                  <a:pt x="134317" y="109141"/>
                  <a:pt x="158750" y="84708"/>
                  <a:pt x="158750" y="54570"/>
                </a:cubicBezTo>
                <a:cubicBezTo>
                  <a:pt x="158750" y="24433"/>
                  <a:pt x="134317" y="0"/>
                  <a:pt x="104180" y="0"/>
                </a:cubicBezTo>
                <a:cubicBezTo>
                  <a:pt x="74042" y="0"/>
                  <a:pt x="49609" y="24433"/>
                  <a:pt x="49609" y="54570"/>
                </a:cubicBezTo>
                <a:cubicBezTo>
                  <a:pt x="49609" y="60368"/>
                  <a:pt x="50509" y="65980"/>
                  <a:pt x="52183" y="71220"/>
                </a:cubicBezTo>
                <a:lnTo>
                  <a:pt x="2170" y="121233"/>
                </a:lnTo>
                <a:cubicBezTo>
                  <a:pt x="775" y="122628"/>
                  <a:pt x="0" y="124520"/>
                  <a:pt x="0" y="126504"/>
                </a:cubicBezTo>
                <a:lnTo>
                  <a:pt x="0" y="151309"/>
                </a:lnTo>
                <a:cubicBezTo>
                  <a:pt x="0" y="155432"/>
                  <a:pt x="3318" y="158750"/>
                  <a:pt x="7441" y="158750"/>
                </a:cubicBezTo>
                <a:lnTo>
                  <a:pt x="32246" y="158750"/>
                </a:lnTo>
                <a:cubicBezTo>
                  <a:pt x="36370" y="158750"/>
                  <a:pt x="39688" y="155432"/>
                  <a:pt x="39688" y="151309"/>
                </a:cubicBezTo>
                <a:lnTo>
                  <a:pt x="39688" y="138906"/>
                </a:lnTo>
                <a:lnTo>
                  <a:pt x="52090" y="138906"/>
                </a:lnTo>
                <a:cubicBezTo>
                  <a:pt x="56214" y="138906"/>
                  <a:pt x="59531" y="135589"/>
                  <a:pt x="59531" y="131465"/>
                </a:cubicBezTo>
                <a:lnTo>
                  <a:pt x="59531" y="119062"/>
                </a:lnTo>
                <a:lnTo>
                  <a:pt x="71934" y="119062"/>
                </a:lnTo>
                <a:cubicBezTo>
                  <a:pt x="73918" y="119062"/>
                  <a:pt x="75809" y="118287"/>
                  <a:pt x="77205" y="116892"/>
                </a:cubicBezTo>
                <a:lnTo>
                  <a:pt x="87530" y="106567"/>
                </a:lnTo>
                <a:cubicBezTo>
                  <a:pt x="92770" y="108241"/>
                  <a:pt x="98382" y="109141"/>
                  <a:pt x="104180" y="109141"/>
                </a:cubicBezTo>
                <a:close/>
                <a:moveTo>
                  <a:pt x="116582" y="29766"/>
                </a:moveTo>
                <a:cubicBezTo>
                  <a:pt x="123427" y="29766"/>
                  <a:pt x="128984" y="35323"/>
                  <a:pt x="128984" y="42168"/>
                </a:cubicBezTo>
                <a:cubicBezTo>
                  <a:pt x="128984" y="49013"/>
                  <a:pt x="123427" y="54570"/>
                  <a:pt x="116582" y="54570"/>
                </a:cubicBezTo>
                <a:cubicBezTo>
                  <a:pt x="109737" y="54570"/>
                  <a:pt x="104180" y="49013"/>
                  <a:pt x="104180" y="42168"/>
                </a:cubicBezTo>
                <a:cubicBezTo>
                  <a:pt x="104180" y="35323"/>
                  <a:pt x="109737" y="29766"/>
                  <a:pt x="116582" y="29766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74688" y="5111750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Fundamental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6250" y="546100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diferencia entre un pipeline ETL bueno y uno improvisado no está en la tecnología, sino en la </a:t>
            </a: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disciplina del proceso</a:t>
            </a: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250" y="5969000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Seguir bloques A-G en orden lógico, verificar estado después de cada bloque y documentar cada Applied Step.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3313" y="1381125"/>
            <a:ext cx="5699125" cy="3048000"/>
          </a:xfrm>
          <a:custGeom>
            <a:avLst/>
            <a:gdLst/>
            <a:ahLst/>
            <a:cxnLst/>
            <a:rect l="l" t="t" r="r" b="b"/>
            <a:pathLst>
              <a:path w="5699125" h="3333750">
                <a:moveTo>
                  <a:pt x="127016" y="0"/>
                </a:moveTo>
                <a:lnTo>
                  <a:pt x="5572109" y="0"/>
                </a:lnTo>
                <a:cubicBezTo>
                  <a:pt x="5642258" y="0"/>
                  <a:pt x="5699125" y="56867"/>
                  <a:pt x="5699125" y="127016"/>
                </a:cubicBezTo>
                <a:lnTo>
                  <a:pt x="5699125" y="3206734"/>
                </a:lnTo>
                <a:cubicBezTo>
                  <a:pt x="5699125" y="3276883"/>
                  <a:pt x="5642258" y="3333750"/>
                  <a:pt x="5572109" y="3333750"/>
                </a:cubicBezTo>
                <a:lnTo>
                  <a:pt x="127016" y="3333750"/>
                </a:lnTo>
                <a:cubicBezTo>
                  <a:pt x="56867" y="3333750"/>
                  <a:pt x="0" y="3276883"/>
                  <a:pt x="0" y="3206734"/>
                </a:cubicBezTo>
                <a:lnTo>
                  <a:pt x="0" y="127016"/>
                </a:lnTo>
                <a:cubicBezTo>
                  <a:pt x="0" y="56914"/>
                  <a:pt x="56914" y="0"/>
                  <a:pt x="1270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334125" y="12223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532563" y="1190625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Competencias Transversales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4125" y="1539875"/>
            <a:ext cx="5381625" cy="952500"/>
          </a:xfrm>
          <a:custGeom>
            <a:avLst/>
            <a:gdLst/>
            <a:ahLst/>
            <a:cxnLst/>
            <a:rect l="l" t="t" r="r" b="b"/>
            <a:pathLst>
              <a:path w="5381625" h="952500">
                <a:moveTo>
                  <a:pt x="63503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888997"/>
                </a:lnTo>
                <a:cubicBezTo>
                  <a:pt x="5381625" y="924069"/>
                  <a:pt x="5353194" y="952500"/>
                  <a:pt x="5318122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429375" y="16351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397625" y="1635125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42125" y="169862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Pensamiento Analítico Estructurado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42125" y="2016125"/>
            <a:ext cx="484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Ciclo CDIO obliga a planificar antes de ejecutar. Cada decisión validada contra las 3 preguntas.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4125" y="2587625"/>
            <a:ext cx="5381625" cy="762000"/>
          </a:xfrm>
          <a:custGeom>
            <a:avLst/>
            <a:gdLst/>
            <a:ahLst/>
            <a:cxnLst/>
            <a:rect l="l" t="t" r="r" b="b"/>
            <a:pathLst>
              <a:path w="5381625" h="762000">
                <a:moveTo>
                  <a:pt x="63497" y="0"/>
                </a:moveTo>
                <a:lnTo>
                  <a:pt x="5318128" y="0"/>
                </a:lnTo>
                <a:cubicBezTo>
                  <a:pt x="5353196" y="0"/>
                  <a:pt x="5381625" y="28429"/>
                  <a:pt x="5381625" y="63497"/>
                </a:cubicBezTo>
                <a:lnTo>
                  <a:pt x="5381625" y="698503"/>
                </a:lnTo>
                <a:cubicBezTo>
                  <a:pt x="5381625" y="733571"/>
                  <a:pt x="5353196" y="762000"/>
                  <a:pt x="5318128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429375" y="268287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397625" y="2682875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42125" y="2746375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Documentación Técnica Reflexiva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42125" y="3063875"/>
            <a:ext cx="484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Bitácora como evidencia del razonamiento detrás de cada decisión técnica.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3969" y="3429000"/>
            <a:ext cx="5381625" cy="762000"/>
          </a:xfrm>
          <a:custGeom>
            <a:avLst/>
            <a:gdLst/>
            <a:ahLst/>
            <a:cxnLst/>
            <a:rect l="l" t="t" r="r" b="b"/>
            <a:pathLst>
              <a:path w="5381625" h="762000">
                <a:moveTo>
                  <a:pt x="63497" y="0"/>
                </a:moveTo>
                <a:lnTo>
                  <a:pt x="5318128" y="0"/>
                </a:lnTo>
                <a:cubicBezTo>
                  <a:pt x="5353196" y="0"/>
                  <a:pt x="5381625" y="28429"/>
                  <a:pt x="5381625" y="63497"/>
                </a:cubicBezTo>
                <a:lnTo>
                  <a:pt x="5381625" y="698503"/>
                </a:lnTo>
                <a:cubicBezTo>
                  <a:pt x="5381625" y="733571"/>
                  <a:pt x="5353196" y="762000"/>
                  <a:pt x="5318128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43" name="Shape 41"/>
          <p:cNvSpPr/>
          <p:nvPr/>
        </p:nvSpPr>
        <p:spPr>
          <a:xfrm>
            <a:off x="6429375" y="354012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6397625" y="3540125"/>
            <a:ext cx="38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42125" y="36036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Resolución de Problemas en Tiempo Real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42125" y="3921125"/>
            <a:ext cx="484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Diagnosticar errores, buscar en Microsoft Learn y aplicar correcciones correctas.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31719" y="4508500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126992" y="0"/>
                </a:moveTo>
                <a:lnTo>
                  <a:pt x="5572133" y="0"/>
                </a:lnTo>
                <a:cubicBezTo>
                  <a:pt x="5642269" y="0"/>
                  <a:pt x="5699125" y="56856"/>
                  <a:pt x="5699125" y="126992"/>
                </a:cubicBezTo>
                <a:lnTo>
                  <a:pt x="5699125" y="2032008"/>
                </a:lnTo>
                <a:cubicBezTo>
                  <a:pt x="5699125" y="2102144"/>
                  <a:pt x="5642269" y="2159000"/>
                  <a:pt x="5572133" y="2159000"/>
                </a:cubicBezTo>
                <a:lnTo>
                  <a:pt x="126992" y="2159000"/>
                </a:lnTo>
                <a:cubicBezTo>
                  <a:pt x="56856" y="2159000"/>
                  <a:pt x="0" y="2102144"/>
                  <a:pt x="0" y="2032008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6310313" y="4937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6488906" y="4905375"/>
            <a:ext cx="526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 del Proyecto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90469" y="5254625"/>
            <a:ext cx="2643188" cy="698500"/>
          </a:xfrm>
          <a:custGeom>
            <a:avLst/>
            <a:gdLst/>
            <a:ahLst/>
            <a:cxnLst/>
            <a:rect l="l" t="t" r="r" b="b"/>
            <a:pathLst>
              <a:path w="2643188" h="698500">
                <a:moveTo>
                  <a:pt x="95247" y="0"/>
                </a:moveTo>
                <a:lnTo>
                  <a:pt x="2547940" y="0"/>
                </a:lnTo>
                <a:cubicBezTo>
                  <a:pt x="2600544" y="0"/>
                  <a:pt x="2643188" y="42644"/>
                  <a:pt x="2643188" y="95247"/>
                </a:cubicBezTo>
                <a:lnTo>
                  <a:pt x="2643188" y="603253"/>
                </a:lnTo>
                <a:cubicBezTo>
                  <a:pt x="2643188" y="655856"/>
                  <a:pt x="2600544" y="698500"/>
                  <a:pt x="254794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6326188" y="5349875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1.6M+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53969" y="5667375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Registros procesados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28906" y="5254625"/>
            <a:ext cx="2643188" cy="698500"/>
          </a:xfrm>
          <a:custGeom>
            <a:avLst/>
            <a:gdLst/>
            <a:ahLst/>
            <a:cxnLst/>
            <a:rect l="l" t="t" r="r" b="b"/>
            <a:pathLst>
              <a:path w="2643188" h="698500">
                <a:moveTo>
                  <a:pt x="95247" y="0"/>
                </a:moveTo>
                <a:lnTo>
                  <a:pt x="2547940" y="0"/>
                </a:lnTo>
                <a:cubicBezTo>
                  <a:pt x="2600544" y="0"/>
                  <a:pt x="2643188" y="42644"/>
                  <a:pt x="2643188" y="95247"/>
                </a:cubicBezTo>
                <a:lnTo>
                  <a:pt x="2643188" y="603253"/>
                </a:lnTo>
                <a:cubicBezTo>
                  <a:pt x="2643188" y="655856"/>
                  <a:pt x="2600544" y="698500"/>
                  <a:pt x="254794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9064625" y="5349875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92406" y="5667375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Medidas DAX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90469" y="6048375"/>
            <a:ext cx="2643188" cy="698500"/>
          </a:xfrm>
          <a:custGeom>
            <a:avLst/>
            <a:gdLst/>
            <a:ahLst/>
            <a:cxnLst/>
            <a:rect l="l" t="t" r="r" b="b"/>
            <a:pathLst>
              <a:path w="2643188" h="698500">
                <a:moveTo>
                  <a:pt x="95247" y="0"/>
                </a:moveTo>
                <a:lnTo>
                  <a:pt x="2547940" y="0"/>
                </a:lnTo>
                <a:cubicBezTo>
                  <a:pt x="2600544" y="0"/>
                  <a:pt x="2643188" y="42644"/>
                  <a:pt x="2643188" y="95247"/>
                </a:cubicBezTo>
                <a:lnTo>
                  <a:pt x="2643188" y="603253"/>
                </a:lnTo>
                <a:cubicBezTo>
                  <a:pt x="2643188" y="655856"/>
                  <a:pt x="2600544" y="698500"/>
                  <a:pt x="254794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6326188" y="6143625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53969" y="6461125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Columnas derivadas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28906" y="6048375"/>
            <a:ext cx="2643188" cy="698500"/>
          </a:xfrm>
          <a:custGeom>
            <a:avLst/>
            <a:gdLst/>
            <a:ahLst/>
            <a:cxnLst/>
            <a:rect l="l" t="t" r="r" b="b"/>
            <a:pathLst>
              <a:path w="2643188" h="698500">
                <a:moveTo>
                  <a:pt x="95247" y="0"/>
                </a:moveTo>
                <a:lnTo>
                  <a:pt x="2547940" y="0"/>
                </a:lnTo>
                <a:cubicBezTo>
                  <a:pt x="2600544" y="0"/>
                  <a:pt x="2643188" y="42644"/>
                  <a:pt x="2643188" y="95247"/>
                </a:cubicBezTo>
                <a:lnTo>
                  <a:pt x="2643188" y="603253"/>
                </a:lnTo>
                <a:cubicBezTo>
                  <a:pt x="2643188" y="655856"/>
                  <a:pt x="2600544" y="698500"/>
                  <a:pt x="2547940" y="698500"/>
                </a:cubicBezTo>
                <a:lnTo>
                  <a:pt x="95247" y="698500"/>
                </a:lnTo>
                <a:cubicBezTo>
                  <a:pt x="42644" y="698500"/>
                  <a:pt x="0" y="655856"/>
                  <a:pt x="0" y="6032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9064625" y="6143625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092406" y="6461125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Fases CDIO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826"/>
          </a:xfrm>
          <a:custGeom>
            <a:avLst/>
            <a:gdLst/>
            <a:ahLst/>
            <a:cxnLst/>
            <a:rect l="l" t="t" r="r" b="b"/>
            <a:pathLst>
              <a:path w="12192000" h="6856826">
                <a:moveTo>
                  <a:pt x="0" y="0"/>
                </a:moveTo>
                <a:lnTo>
                  <a:pt x="12192000" y="0"/>
                </a:lnTo>
                <a:lnTo>
                  <a:pt x="12192000" y="6856826"/>
                </a:lnTo>
                <a:lnTo>
                  <a:pt x="0" y="685682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https://kimi-web-img.moonshot.cn/img/static.wixstatic.com/985dc0af0b9b034b6ae7ae5d55f93fffcdfb6cc8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4659" r="4659"/>
          <a:stretch/>
        </p:blipFill>
        <p:spPr>
          <a:xfrm>
            <a:off x="0" y="0"/>
            <a:ext cx="12192000" cy="6856826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2000" cy="6856826"/>
          </a:xfrm>
          <a:custGeom>
            <a:avLst/>
            <a:gdLst/>
            <a:ahLst/>
            <a:cxnLst/>
            <a:rect l="l" t="t" r="r" b="b"/>
            <a:pathLst>
              <a:path w="12192000" h="6856826">
                <a:moveTo>
                  <a:pt x="0" y="0"/>
                </a:moveTo>
                <a:lnTo>
                  <a:pt x="12192000" y="0"/>
                </a:lnTo>
                <a:lnTo>
                  <a:pt x="12192000" y="6856826"/>
                </a:lnTo>
                <a:lnTo>
                  <a:pt x="0" y="685682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4297257" y="-46965"/>
            <a:ext cx="3597485" cy="488431"/>
          </a:xfrm>
          <a:custGeom>
            <a:avLst/>
            <a:gdLst/>
            <a:ahLst/>
            <a:cxnLst/>
            <a:rect l="l" t="t" r="r" b="b"/>
            <a:pathLst>
              <a:path w="3597485" h="488431">
                <a:moveTo>
                  <a:pt x="244216" y="0"/>
                </a:moveTo>
                <a:lnTo>
                  <a:pt x="3353270" y="0"/>
                </a:lnTo>
                <a:cubicBezTo>
                  <a:pt x="3488146" y="0"/>
                  <a:pt x="3597485" y="109339"/>
                  <a:pt x="3597485" y="244216"/>
                </a:cubicBezTo>
                <a:lnTo>
                  <a:pt x="3597485" y="244216"/>
                </a:lnTo>
                <a:cubicBezTo>
                  <a:pt x="3597485" y="379092"/>
                  <a:pt x="3488146" y="488431"/>
                  <a:pt x="3353270" y="488431"/>
                </a:cubicBezTo>
                <a:lnTo>
                  <a:pt x="244216" y="488431"/>
                </a:lnTo>
                <a:cubicBezTo>
                  <a:pt x="109339" y="488431"/>
                  <a:pt x="0" y="379092"/>
                  <a:pt x="0" y="244216"/>
                </a:cubicBezTo>
                <a:lnTo>
                  <a:pt x="0" y="244216"/>
                </a:lnTo>
                <a:cubicBezTo>
                  <a:pt x="0" y="109339"/>
                  <a:pt x="109339" y="0"/>
                  <a:pt x="244216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4475723" y="65750"/>
            <a:ext cx="324055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9" b="1" kern="0" spc="74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 DEL PROYECTO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4823" y="742040"/>
            <a:ext cx="11722354" cy="140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Datos Crudos 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38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de Negocios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5772" y="2827267"/>
            <a:ext cx="9618342" cy="3174804"/>
          </a:xfrm>
          <a:custGeom>
            <a:avLst/>
            <a:gdLst/>
            <a:ahLst/>
            <a:cxnLst/>
            <a:rect l="l" t="t" r="r" b="b"/>
            <a:pathLst>
              <a:path w="9618342" h="3174804">
                <a:moveTo>
                  <a:pt x="225443" y="0"/>
                </a:moveTo>
                <a:lnTo>
                  <a:pt x="9392899" y="0"/>
                </a:lnTo>
                <a:cubicBezTo>
                  <a:pt x="9517408" y="0"/>
                  <a:pt x="9618342" y="100934"/>
                  <a:pt x="9618342" y="225443"/>
                </a:cubicBezTo>
                <a:lnTo>
                  <a:pt x="9618342" y="2949361"/>
                </a:lnTo>
                <a:cubicBezTo>
                  <a:pt x="9618342" y="3073870"/>
                  <a:pt x="9517408" y="3174804"/>
                  <a:pt x="9392899" y="3174804"/>
                </a:cubicBezTo>
                <a:lnTo>
                  <a:pt x="225443" y="3174804"/>
                </a:lnTo>
                <a:cubicBezTo>
                  <a:pt x="100934" y="3174804"/>
                  <a:pt x="0" y="3073870"/>
                  <a:pt x="0" y="2949361"/>
                </a:cubicBezTo>
                <a:lnTo>
                  <a:pt x="0" y="225443"/>
                </a:lnTo>
                <a:cubicBezTo>
                  <a:pt x="0" y="101018"/>
                  <a:pt x="101018" y="0"/>
                  <a:pt x="22544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529988" y="3127840"/>
            <a:ext cx="9129911" cy="732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Transformar datos crudos en inteligencia de negocios requiere </a:t>
            </a:r>
            <a:r>
              <a:rPr lang="en-US" sz="1775" b="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disciplina técnica</a:t>
            </a:r>
            <a:r>
              <a:rPr lang="en-US" sz="17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775" b="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bien pensada</a:t>
            </a:r>
            <a:r>
              <a:rPr lang="en-US" sz="17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r>
              <a:rPr lang="en-US" sz="1775" b="1" dirty="0">
                <a:solidFill>
                  <a:srgbClr val="2DD4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alineación constante</a:t>
            </a:r>
            <a:r>
              <a:rPr lang="en-US" sz="1775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 objetivos analíticos.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86345" y="4085917"/>
            <a:ext cx="2855445" cy="1615581"/>
          </a:xfrm>
          <a:custGeom>
            <a:avLst/>
            <a:gdLst/>
            <a:ahLst/>
            <a:cxnLst/>
            <a:rect l="l" t="t" r="r" b="b"/>
            <a:pathLst>
              <a:path w="2855445" h="1615581">
                <a:moveTo>
                  <a:pt x="150281" y="0"/>
                </a:moveTo>
                <a:lnTo>
                  <a:pt x="2705164" y="0"/>
                </a:lnTo>
                <a:cubicBezTo>
                  <a:pt x="2788162" y="0"/>
                  <a:pt x="2855445" y="67283"/>
                  <a:pt x="2855445" y="150281"/>
                </a:cubicBezTo>
                <a:lnTo>
                  <a:pt x="2855445" y="1465300"/>
                </a:lnTo>
                <a:cubicBezTo>
                  <a:pt x="2855445" y="1548298"/>
                  <a:pt x="2788162" y="1615581"/>
                  <a:pt x="2705164" y="1615581"/>
                </a:cubicBezTo>
                <a:lnTo>
                  <a:pt x="150281" y="1615581"/>
                </a:lnTo>
                <a:cubicBezTo>
                  <a:pt x="67283" y="1615581"/>
                  <a:pt x="0" y="1548298"/>
                  <a:pt x="0" y="1465300"/>
                </a:cubicBezTo>
                <a:lnTo>
                  <a:pt x="0" y="150281"/>
                </a:lnTo>
                <a:cubicBezTo>
                  <a:pt x="0" y="67339"/>
                  <a:pt x="67339" y="0"/>
                  <a:pt x="1502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2844996" y="4273775"/>
            <a:ext cx="338145" cy="338145"/>
          </a:xfrm>
          <a:custGeom>
            <a:avLst/>
            <a:gdLst/>
            <a:ahLst/>
            <a:cxnLst/>
            <a:rect l="l" t="t" r="r" b="b"/>
            <a:pathLst>
              <a:path w="338145" h="338145">
                <a:moveTo>
                  <a:pt x="169072" y="338145"/>
                </a:moveTo>
                <a:cubicBezTo>
                  <a:pt x="262386" y="338145"/>
                  <a:pt x="338145" y="262386"/>
                  <a:pt x="338145" y="169072"/>
                </a:cubicBezTo>
                <a:cubicBezTo>
                  <a:pt x="338145" y="75759"/>
                  <a:pt x="262386" y="0"/>
                  <a:pt x="169072" y="0"/>
                </a:cubicBezTo>
                <a:cubicBezTo>
                  <a:pt x="75759" y="0"/>
                  <a:pt x="0" y="75759"/>
                  <a:pt x="0" y="169072"/>
                </a:cubicBezTo>
                <a:cubicBezTo>
                  <a:pt x="0" y="262386"/>
                  <a:pt x="75759" y="338145"/>
                  <a:pt x="169072" y="338145"/>
                </a:cubicBezTo>
                <a:close/>
                <a:moveTo>
                  <a:pt x="224813" y="140475"/>
                </a:moveTo>
                <a:lnTo>
                  <a:pt x="171978" y="225012"/>
                </a:lnTo>
                <a:cubicBezTo>
                  <a:pt x="169205" y="229437"/>
                  <a:pt x="164449" y="232210"/>
                  <a:pt x="159232" y="232475"/>
                </a:cubicBezTo>
                <a:cubicBezTo>
                  <a:pt x="154014" y="232739"/>
                  <a:pt x="148995" y="230361"/>
                  <a:pt x="145891" y="226134"/>
                </a:cubicBezTo>
                <a:lnTo>
                  <a:pt x="114190" y="183866"/>
                </a:lnTo>
                <a:cubicBezTo>
                  <a:pt x="108906" y="176866"/>
                  <a:pt x="110359" y="166959"/>
                  <a:pt x="117360" y="161676"/>
                </a:cubicBezTo>
                <a:cubicBezTo>
                  <a:pt x="124361" y="156392"/>
                  <a:pt x="134267" y="157845"/>
                  <a:pt x="139551" y="164846"/>
                </a:cubicBezTo>
                <a:lnTo>
                  <a:pt x="157383" y="188621"/>
                </a:lnTo>
                <a:lnTo>
                  <a:pt x="197934" y="123700"/>
                </a:lnTo>
                <a:cubicBezTo>
                  <a:pt x="202557" y="116303"/>
                  <a:pt x="212331" y="113992"/>
                  <a:pt x="219794" y="118681"/>
                </a:cubicBezTo>
                <a:cubicBezTo>
                  <a:pt x="227257" y="123370"/>
                  <a:pt x="229503" y="133078"/>
                  <a:pt x="224813" y="140541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1727239" y="4724635"/>
            <a:ext cx="25736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Metodología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36632" y="5062780"/>
            <a:ext cx="2554872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CDIO + ABP produce resultados profesionales y reproducibles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67221" y="4085917"/>
            <a:ext cx="2855445" cy="1615581"/>
          </a:xfrm>
          <a:custGeom>
            <a:avLst/>
            <a:gdLst/>
            <a:ahLst/>
            <a:cxnLst/>
            <a:rect l="l" t="t" r="r" b="b"/>
            <a:pathLst>
              <a:path w="2855445" h="1615581">
                <a:moveTo>
                  <a:pt x="150281" y="0"/>
                </a:moveTo>
                <a:lnTo>
                  <a:pt x="2705164" y="0"/>
                </a:lnTo>
                <a:cubicBezTo>
                  <a:pt x="2788162" y="0"/>
                  <a:pt x="2855445" y="67283"/>
                  <a:pt x="2855445" y="150281"/>
                </a:cubicBezTo>
                <a:lnTo>
                  <a:pt x="2855445" y="1465300"/>
                </a:lnTo>
                <a:cubicBezTo>
                  <a:pt x="2855445" y="1548298"/>
                  <a:pt x="2788162" y="1615581"/>
                  <a:pt x="2705164" y="1615581"/>
                </a:cubicBezTo>
                <a:lnTo>
                  <a:pt x="150281" y="1615581"/>
                </a:lnTo>
                <a:cubicBezTo>
                  <a:pt x="67283" y="1615581"/>
                  <a:pt x="0" y="1548298"/>
                  <a:pt x="0" y="1465300"/>
                </a:cubicBezTo>
                <a:lnTo>
                  <a:pt x="0" y="150281"/>
                </a:lnTo>
                <a:cubicBezTo>
                  <a:pt x="0" y="67339"/>
                  <a:pt x="67339" y="0"/>
                  <a:pt x="1502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883603" y="4273775"/>
            <a:ext cx="422681" cy="338145"/>
          </a:xfrm>
          <a:custGeom>
            <a:avLst/>
            <a:gdLst/>
            <a:ahLst/>
            <a:cxnLst/>
            <a:rect l="l" t="t" r="r" b="b"/>
            <a:pathLst>
              <a:path w="422681" h="338145">
                <a:moveTo>
                  <a:pt x="274677" y="139022"/>
                </a:moveTo>
                <a:cubicBezTo>
                  <a:pt x="282734" y="136843"/>
                  <a:pt x="291188" y="140674"/>
                  <a:pt x="294820" y="148136"/>
                </a:cubicBezTo>
                <a:lnTo>
                  <a:pt x="307104" y="172969"/>
                </a:lnTo>
                <a:cubicBezTo>
                  <a:pt x="313907" y="173894"/>
                  <a:pt x="320577" y="175743"/>
                  <a:pt x="326851" y="178319"/>
                </a:cubicBezTo>
                <a:lnTo>
                  <a:pt x="349967" y="162930"/>
                </a:lnTo>
                <a:cubicBezTo>
                  <a:pt x="356901" y="158307"/>
                  <a:pt x="366081" y="159232"/>
                  <a:pt x="371959" y="165110"/>
                </a:cubicBezTo>
                <a:lnTo>
                  <a:pt x="384640" y="177790"/>
                </a:lnTo>
                <a:cubicBezTo>
                  <a:pt x="390518" y="183668"/>
                  <a:pt x="391442" y="192914"/>
                  <a:pt x="386819" y="199783"/>
                </a:cubicBezTo>
                <a:lnTo>
                  <a:pt x="371431" y="222832"/>
                </a:lnTo>
                <a:cubicBezTo>
                  <a:pt x="372686" y="225936"/>
                  <a:pt x="373809" y="229172"/>
                  <a:pt x="374733" y="232541"/>
                </a:cubicBezTo>
                <a:cubicBezTo>
                  <a:pt x="375658" y="235909"/>
                  <a:pt x="376252" y="239211"/>
                  <a:pt x="376714" y="242579"/>
                </a:cubicBezTo>
                <a:lnTo>
                  <a:pt x="401613" y="254863"/>
                </a:lnTo>
                <a:cubicBezTo>
                  <a:pt x="409076" y="258562"/>
                  <a:pt x="412907" y="267016"/>
                  <a:pt x="410727" y="275007"/>
                </a:cubicBezTo>
                <a:lnTo>
                  <a:pt x="406104" y="292310"/>
                </a:lnTo>
                <a:cubicBezTo>
                  <a:pt x="403925" y="300302"/>
                  <a:pt x="396462" y="305717"/>
                  <a:pt x="388140" y="305189"/>
                </a:cubicBezTo>
                <a:lnTo>
                  <a:pt x="360402" y="303406"/>
                </a:lnTo>
                <a:cubicBezTo>
                  <a:pt x="356241" y="308755"/>
                  <a:pt x="351420" y="313709"/>
                  <a:pt x="345938" y="317935"/>
                </a:cubicBezTo>
                <a:lnTo>
                  <a:pt x="347721" y="345608"/>
                </a:lnTo>
                <a:cubicBezTo>
                  <a:pt x="348250" y="353929"/>
                  <a:pt x="342834" y="361458"/>
                  <a:pt x="334843" y="363572"/>
                </a:cubicBezTo>
                <a:lnTo>
                  <a:pt x="317539" y="368195"/>
                </a:lnTo>
                <a:cubicBezTo>
                  <a:pt x="309482" y="370374"/>
                  <a:pt x="301094" y="366544"/>
                  <a:pt x="297396" y="359081"/>
                </a:cubicBezTo>
                <a:lnTo>
                  <a:pt x="285112" y="334248"/>
                </a:lnTo>
                <a:cubicBezTo>
                  <a:pt x="278309" y="333324"/>
                  <a:pt x="271639" y="331474"/>
                  <a:pt x="265364" y="328899"/>
                </a:cubicBezTo>
                <a:lnTo>
                  <a:pt x="242249" y="344287"/>
                </a:lnTo>
                <a:cubicBezTo>
                  <a:pt x="235314" y="348910"/>
                  <a:pt x="226134" y="347985"/>
                  <a:pt x="220256" y="342107"/>
                </a:cubicBezTo>
                <a:lnTo>
                  <a:pt x="207576" y="329427"/>
                </a:lnTo>
                <a:cubicBezTo>
                  <a:pt x="201698" y="323549"/>
                  <a:pt x="200773" y="314369"/>
                  <a:pt x="205397" y="307434"/>
                </a:cubicBezTo>
                <a:lnTo>
                  <a:pt x="220785" y="284319"/>
                </a:lnTo>
                <a:cubicBezTo>
                  <a:pt x="219530" y="281215"/>
                  <a:pt x="218407" y="277979"/>
                  <a:pt x="217483" y="274611"/>
                </a:cubicBezTo>
                <a:cubicBezTo>
                  <a:pt x="216558" y="271242"/>
                  <a:pt x="215964" y="267874"/>
                  <a:pt x="215501" y="264572"/>
                </a:cubicBezTo>
                <a:lnTo>
                  <a:pt x="190603" y="252288"/>
                </a:lnTo>
                <a:cubicBezTo>
                  <a:pt x="183140" y="248589"/>
                  <a:pt x="179375" y="240136"/>
                  <a:pt x="181489" y="232144"/>
                </a:cubicBezTo>
                <a:lnTo>
                  <a:pt x="186112" y="214841"/>
                </a:lnTo>
                <a:cubicBezTo>
                  <a:pt x="188291" y="206850"/>
                  <a:pt x="195754" y="201434"/>
                  <a:pt x="204076" y="201962"/>
                </a:cubicBezTo>
                <a:lnTo>
                  <a:pt x="231748" y="203745"/>
                </a:lnTo>
                <a:cubicBezTo>
                  <a:pt x="235909" y="198396"/>
                  <a:pt x="240730" y="193443"/>
                  <a:pt x="246212" y="189216"/>
                </a:cubicBezTo>
                <a:lnTo>
                  <a:pt x="244429" y="161609"/>
                </a:lnTo>
                <a:cubicBezTo>
                  <a:pt x="243900" y="153288"/>
                  <a:pt x="249316" y="145759"/>
                  <a:pt x="257307" y="143646"/>
                </a:cubicBezTo>
                <a:lnTo>
                  <a:pt x="274611" y="139022"/>
                </a:lnTo>
                <a:close/>
                <a:moveTo>
                  <a:pt x="296141" y="224549"/>
                </a:moveTo>
                <a:cubicBezTo>
                  <a:pt x="280103" y="224568"/>
                  <a:pt x="267096" y="237603"/>
                  <a:pt x="267115" y="253642"/>
                </a:cubicBezTo>
                <a:cubicBezTo>
                  <a:pt x="267133" y="269680"/>
                  <a:pt x="280169" y="282686"/>
                  <a:pt x="296207" y="282668"/>
                </a:cubicBezTo>
                <a:cubicBezTo>
                  <a:pt x="312245" y="282650"/>
                  <a:pt x="325251" y="269614"/>
                  <a:pt x="325233" y="253576"/>
                </a:cubicBezTo>
                <a:cubicBezTo>
                  <a:pt x="325215" y="237537"/>
                  <a:pt x="312179" y="224531"/>
                  <a:pt x="296141" y="224549"/>
                </a:cubicBezTo>
                <a:close/>
                <a:moveTo>
                  <a:pt x="148533" y="-30050"/>
                </a:moveTo>
                <a:lnTo>
                  <a:pt x="165836" y="-25427"/>
                </a:lnTo>
                <a:cubicBezTo>
                  <a:pt x="173828" y="-23247"/>
                  <a:pt x="179243" y="-15718"/>
                  <a:pt x="178715" y="-7463"/>
                </a:cubicBezTo>
                <a:lnTo>
                  <a:pt x="176932" y="20143"/>
                </a:lnTo>
                <a:cubicBezTo>
                  <a:pt x="182413" y="24370"/>
                  <a:pt x="187234" y="29257"/>
                  <a:pt x="191395" y="34673"/>
                </a:cubicBezTo>
                <a:lnTo>
                  <a:pt x="219134" y="32890"/>
                </a:lnTo>
                <a:cubicBezTo>
                  <a:pt x="227389" y="32362"/>
                  <a:pt x="234918" y="37777"/>
                  <a:pt x="237098" y="45768"/>
                </a:cubicBezTo>
                <a:lnTo>
                  <a:pt x="241721" y="63072"/>
                </a:lnTo>
                <a:cubicBezTo>
                  <a:pt x="243834" y="71063"/>
                  <a:pt x="240070" y="79517"/>
                  <a:pt x="232607" y="83215"/>
                </a:cubicBezTo>
                <a:lnTo>
                  <a:pt x="207708" y="95499"/>
                </a:lnTo>
                <a:cubicBezTo>
                  <a:pt x="207246" y="98868"/>
                  <a:pt x="206585" y="102236"/>
                  <a:pt x="205727" y="105538"/>
                </a:cubicBezTo>
                <a:cubicBezTo>
                  <a:pt x="204868" y="108840"/>
                  <a:pt x="203679" y="112143"/>
                  <a:pt x="202425" y="115247"/>
                </a:cubicBezTo>
                <a:lnTo>
                  <a:pt x="217813" y="138362"/>
                </a:lnTo>
                <a:cubicBezTo>
                  <a:pt x="222436" y="145297"/>
                  <a:pt x="221511" y="154477"/>
                  <a:pt x="215633" y="160355"/>
                </a:cubicBezTo>
                <a:lnTo>
                  <a:pt x="202953" y="173035"/>
                </a:lnTo>
                <a:cubicBezTo>
                  <a:pt x="197075" y="178913"/>
                  <a:pt x="187895" y="179838"/>
                  <a:pt x="180960" y="175215"/>
                </a:cubicBezTo>
                <a:lnTo>
                  <a:pt x="157845" y="159826"/>
                </a:lnTo>
                <a:cubicBezTo>
                  <a:pt x="151571" y="162402"/>
                  <a:pt x="144900" y="164251"/>
                  <a:pt x="138098" y="165176"/>
                </a:cubicBezTo>
                <a:lnTo>
                  <a:pt x="125814" y="190008"/>
                </a:lnTo>
                <a:cubicBezTo>
                  <a:pt x="122115" y="197471"/>
                  <a:pt x="113662" y="201236"/>
                  <a:pt x="105670" y="199122"/>
                </a:cubicBezTo>
                <a:lnTo>
                  <a:pt x="88367" y="194499"/>
                </a:lnTo>
                <a:cubicBezTo>
                  <a:pt x="80309" y="192320"/>
                  <a:pt x="74960" y="184791"/>
                  <a:pt x="75488" y="176535"/>
                </a:cubicBezTo>
                <a:lnTo>
                  <a:pt x="77271" y="148863"/>
                </a:lnTo>
                <a:cubicBezTo>
                  <a:pt x="71790" y="144636"/>
                  <a:pt x="66969" y="139749"/>
                  <a:pt x="62808" y="134333"/>
                </a:cubicBezTo>
                <a:lnTo>
                  <a:pt x="35069" y="136117"/>
                </a:lnTo>
                <a:cubicBezTo>
                  <a:pt x="26814" y="136645"/>
                  <a:pt x="19285" y="131229"/>
                  <a:pt x="17105" y="123238"/>
                </a:cubicBezTo>
                <a:lnTo>
                  <a:pt x="12482" y="105934"/>
                </a:lnTo>
                <a:cubicBezTo>
                  <a:pt x="10369" y="97943"/>
                  <a:pt x="14133" y="89490"/>
                  <a:pt x="21596" y="85791"/>
                </a:cubicBezTo>
                <a:lnTo>
                  <a:pt x="46495" y="73507"/>
                </a:lnTo>
                <a:cubicBezTo>
                  <a:pt x="46957" y="70139"/>
                  <a:pt x="47618" y="66836"/>
                  <a:pt x="48476" y="63468"/>
                </a:cubicBezTo>
                <a:cubicBezTo>
                  <a:pt x="49401" y="60100"/>
                  <a:pt x="50458" y="56864"/>
                  <a:pt x="51778" y="53760"/>
                </a:cubicBezTo>
                <a:lnTo>
                  <a:pt x="36390" y="30710"/>
                </a:lnTo>
                <a:cubicBezTo>
                  <a:pt x="31767" y="23776"/>
                  <a:pt x="32692" y="14596"/>
                  <a:pt x="38570" y="8718"/>
                </a:cubicBezTo>
                <a:lnTo>
                  <a:pt x="51250" y="-3963"/>
                </a:lnTo>
                <a:cubicBezTo>
                  <a:pt x="57128" y="-9841"/>
                  <a:pt x="66308" y="-10765"/>
                  <a:pt x="73243" y="-6142"/>
                </a:cubicBezTo>
                <a:lnTo>
                  <a:pt x="96358" y="9246"/>
                </a:lnTo>
                <a:cubicBezTo>
                  <a:pt x="102632" y="6670"/>
                  <a:pt x="109303" y="4821"/>
                  <a:pt x="116105" y="3897"/>
                </a:cubicBezTo>
                <a:lnTo>
                  <a:pt x="128389" y="-20936"/>
                </a:lnTo>
                <a:cubicBezTo>
                  <a:pt x="132088" y="-28399"/>
                  <a:pt x="140475" y="-32163"/>
                  <a:pt x="148533" y="-30050"/>
                </a:cubicBezTo>
                <a:close/>
                <a:moveTo>
                  <a:pt x="127068" y="55477"/>
                </a:moveTo>
                <a:cubicBezTo>
                  <a:pt x="111030" y="55477"/>
                  <a:pt x="98009" y="68498"/>
                  <a:pt x="98009" y="84536"/>
                </a:cubicBezTo>
                <a:cubicBezTo>
                  <a:pt x="98009" y="100574"/>
                  <a:pt x="111030" y="113596"/>
                  <a:pt x="127068" y="113596"/>
                </a:cubicBezTo>
                <a:cubicBezTo>
                  <a:pt x="143107" y="113596"/>
                  <a:pt x="156128" y="100574"/>
                  <a:pt x="156128" y="84536"/>
                </a:cubicBezTo>
                <a:cubicBezTo>
                  <a:pt x="156128" y="68498"/>
                  <a:pt x="143107" y="55477"/>
                  <a:pt x="127068" y="55477"/>
                </a:cubicBez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808114" y="4724635"/>
            <a:ext cx="25736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17507" y="5062780"/>
            <a:ext cx="2554872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 Fabric integra todo el stack analítico en una plataforma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48096" y="4085917"/>
            <a:ext cx="2855445" cy="1615581"/>
          </a:xfrm>
          <a:custGeom>
            <a:avLst/>
            <a:gdLst/>
            <a:ahLst/>
            <a:cxnLst/>
            <a:rect l="l" t="t" r="r" b="b"/>
            <a:pathLst>
              <a:path w="2855445" h="1615581">
                <a:moveTo>
                  <a:pt x="150281" y="0"/>
                </a:moveTo>
                <a:lnTo>
                  <a:pt x="2705164" y="0"/>
                </a:lnTo>
                <a:cubicBezTo>
                  <a:pt x="2788162" y="0"/>
                  <a:pt x="2855445" y="67283"/>
                  <a:pt x="2855445" y="150281"/>
                </a:cubicBezTo>
                <a:lnTo>
                  <a:pt x="2855445" y="1465300"/>
                </a:lnTo>
                <a:cubicBezTo>
                  <a:pt x="2855445" y="1548298"/>
                  <a:pt x="2788162" y="1615581"/>
                  <a:pt x="2705164" y="1615581"/>
                </a:cubicBezTo>
                <a:lnTo>
                  <a:pt x="150281" y="1615581"/>
                </a:lnTo>
                <a:cubicBezTo>
                  <a:pt x="67283" y="1615581"/>
                  <a:pt x="0" y="1548298"/>
                  <a:pt x="0" y="1465300"/>
                </a:cubicBezTo>
                <a:lnTo>
                  <a:pt x="0" y="150281"/>
                </a:lnTo>
                <a:cubicBezTo>
                  <a:pt x="0" y="67339"/>
                  <a:pt x="67339" y="0"/>
                  <a:pt x="1502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9006746" y="4273775"/>
            <a:ext cx="338145" cy="338145"/>
          </a:xfrm>
          <a:custGeom>
            <a:avLst/>
            <a:gdLst/>
            <a:ahLst/>
            <a:cxnLst/>
            <a:rect l="l" t="t" r="r" b="b"/>
            <a:pathLst>
              <a:path w="338145" h="338145">
                <a:moveTo>
                  <a:pt x="42268" y="42268"/>
                </a:moveTo>
                <a:cubicBezTo>
                  <a:pt x="42268" y="30578"/>
                  <a:pt x="32824" y="21134"/>
                  <a:pt x="21134" y="21134"/>
                </a:cubicBezTo>
                <a:cubicBezTo>
                  <a:pt x="9444" y="21134"/>
                  <a:pt x="0" y="30578"/>
                  <a:pt x="0" y="42268"/>
                </a:cubicBezTo>
                <a:lnTo>
                  <a:pt x="0" y="264176"/>
                </a:lnTo>
                <a:cubicBezTo>
                  <a:pt x="0" y="293367"/>
                  <a:pt x="23644" y="317011"/>
                  <a:pt x="52835" y="317011"/>
                </a:cubicBezTo>
                <a:lnTo>
                  <a:pt x="317011" y="317011"/>
                </a:lnTo>
                <a:cubicBezTo>
                  <a:pt x="328701" y="317011"/>
                  <a:pt x="338145" y="307567"/>
                  <a:pt x="338145" y="295877"/>
                </a:cubicBezTo>
                <a:cubicBezTo>
                  <a:pt x="338145" y="284187"/>
                  <a:pt x="328701" y="274743"/>
                  <a:pt x="317011" y="274743"/>
                </a:cubicBezTo>
                <a:lnTo>
                  <a:pt x="52835" y="274743"/>
                </a:lnTo>
                <a:cubicBezTo>
                  <a:pt x="47023" y="274743"/>
                  <a:pt x="42268" y="269988"/>
                  <a:pt x="42268" y="264176"/>
                </a:cubicBezTo>
                <a:lnTo>
                  <a:pt x="42268" y="42268"/>
                </a:lnTo>
                <a:close/>
                <a:moveTo>
                  <a:pt x="310803" y="99462"/>
                </a:moveTo>
                <a:cubicBezTo>
                  <a:pt x="319058" y="91207"/>
                  <a:pt x="319058" y="77800"/>
                  <a:pt x="310803" y="69544"/>
                </a:cubicBezTo>
                <a:cubicBezTo>
                  <a:pt x="302547" y="61289"/>
                  <a:pt x="289140" y="61289"/>
                  <a:pt x="280885" y="69544"/>
                </a:cubicBezTo>
                <a:lnTo>
                  <a:pt x="211341" y="139155"/>
                </a:lnTo>
                <a:lnTo>
                  <a:pt x="173431" y="101311"/>
                </a:lnTo>
                <a:cubicBezTo>
                  <a:pt x="165176" y="93056"/>
                  <a:pt x="151769" y="93056"/>
                  <a:pt x="143513" y="101311"/>
                </a:cubicBezTo>
                <a:lnTo>
                  <a:pt x="80111" y="164714"/>
                </a:lnTo>
                <a:cubicBezTo>
                  <a:pt x="71856" y="172969"/>
                  <a:pt x="71856" y="186376"/>
                  <a:pt x="80111" y="194631"/>
                </a:cubicBezTo>
                <a:cubicBezTo>
                  <a:pt x="88367" y="202887"/>
                  <a:pt x="101774" y="202887"/>
                  <a:pt x="110029" y="194631"/>
                </a:cubicBezTo>
                <a:lnTo>
                  <a:pt x="158505" y="146155"/>
                </a:lnTo>
                <a:lnTo>
                  <a:pt x="196415" y="184064"/>
                </a:lnTo>
                <a:cubicBezTo>
                  <a:pt x="204670" y="192320"/>
                  <a:pt x="218077" y="192320"/>
                  <a:pt x="226332" y="184064"/>
                </a:cubicBezTo>
                <a:lnTo>
                  <a:pt x="310869" y="99528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7888990" y="4724635"/>
            <a:ext cx="257365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98383" y="5062780"/>
            <a:ext cx="2554872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3" dirty="0">
                <a:solidFill>
                  <a:srgbClr val="D1D5D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1.6M+ registros con hallazgos accionables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869065" y="6302644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150287" y="0"/>
                </a:moveTo>
                <a:lnTo>
                  <a:pt x="450860" y="0"/>
                </a:lnTo>
                <a:cubicBezTo>
                  <a:pt x="533861" y="0"/>
                  <a:pt x="601146" y="67286"/>
                  <a:pt x="601146" y="150287"/>
                </a:cubicBezTo>
                <a:lnTo>
                  <a:pt x="601146" y="450860"/>
                </a:lnTo>
                <a:cubicBezTo>
                  <a:pt x="601146" y="533861"/>
                  <a:pt x="533861" y="601146"/>
                  <a:pt x="450860" y="601146"/>
                </a:cubicBezTo>
                <a:lnTo>
                  <a:pt x="150287" y="601146"/>
                </a:lnTo>
                <a:cubicBezTo>
                  <a:pt x="67286" y="601146"/>
                  <a:pt x="0" y="533861"/>
                  <a:pt x="0" y="450860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3013481" y="6462324"/>
            <a:ext cx="317011" cy="281787"/>
          </a:xfrm>
          <a:custGeom>
            <a:avLst/>
            <a:gdLst/>
            <a:ahLst/>
            <a:cxnLst/>
            <a:rect l="l" t="t" r="r" b="b"/>
            <a:pathLst>
              <a:path w="317011" h="281787">
                <a:moveTo>
                  <a:pt x="26418" y="107762"/>
                </a:moveTo>
                <a:lnTo>
                  <a:pt x="141554" y="155148"/>
                </a:lnTo>
                <a:cubicBezTo>
                  <a:pt x="146948" y="157350"/>
                  <a:pt x="152672" y="158505"/>
                  <a:pt x="158505" y="158505"/>
                </a:cubicBezTo>
                <a:cubicBezTo>
                  <a:pt x="164339" y="158505"/>
                  <a:pt x="170063" y="157350"/>
                  <a:pt x="175457" y="155148"/>
                </a:cubicBezTo>
                <a:lnTo>
                  <a:pt x="308865" y="100222"/>
                </a:lnTo>
                <a:cubicBezTo>
                  <a:pt x="313819" y="98185"/>
                  <a:pt x="317011" y="93397"/>
                  <a:pt x="317011" y="88059"/>
                </a:cubicBezTo>
                <a:cubicBezTo>
                  <a:pt x="317011" y="82720"/>
                  <a:pt x="313819" y="77932"/>
                  <a:pt x="308865" y="75895"/>
                </a:cubicBezTo>
                <a:lnTo>
                  <a:pt x="175457" y="20969"/>
                </a:lnTo>
                <a:cubicBezTo>
                  <a:pt x="170063" y="18767"/>
                  <a:pt x="164339" y="17612"/>
                  <a:pt x="158505" y="17612"/>
                </a:cubicBezTo>
                <a:cubicBezTo>
                  <a:pt x="152672" y="17612"/>
                  <a:pt x="146948" y="18767"/>
                  <a:pt x="141554" y="20969"/>
                </a:cubicBezTo>
                <a:lnTo>
                  <a:pt x="8145" y="75895"/>
                </a:lnTo>
                <a:cubicBezTo>
                  <a:pt x="3192" y="77932"/>
                  <a:pt x="0" y="82720"/>
                  <a:pt x="0" y="88059"/>
                </a:cubicBezTo>
                <a:lnTo>
                  <a:pt x="0" y="250967"/>
                </a:lnTo>
                <a:cubicBezTo>
                  <a:pt x="0" y="258287"/>
                  <a:pt x="5889" y="264176"/>
                  <a:pt x="13209" y="264176"/>
                </a:cubicBezTo>
                <a:cubicBezTo>
                  <a:pt x="20529" y="264176"/>
                  <a:pt x="26418" y="258287"/>
                  <a:pt x="26418" y="250967"/>
                </a:cubicBezTo>
                <a:lnTo>
                  <a:pt x="26418" y="107762"/>
                </a:lnTo>
                <a:close/>
                <a:moveTo>
                  <a:pt x="52835" y="147223"/>
                </a:moveTo>
                <a:lnTo>
                  <a:pt x="52835" y="211341"/>
                </a:lnTo>
                <a:cubicBezTo>
                  <a:pt x="52835" y="240510"/>
                  <a:pt x="100167" y="264176"/>
                  <a:pt x="158505" y="264176"/>
                </a:cubicBezTo>
                <a:cubicBezTo>
                  <a:pt x="216844" y="264176"/>
                  <a:pt x="264176" y="240510"/>
                  <a:pt x="264176" y="211341"/>
                </a:cubicBezTo>
                <a:lnTo>
                  <a:pt x="264176" y="147168"/>
                </a:lnTo>
                <a:lnTo>
                  <a:pt x="185528" y="179584"/>
                </a:lnTo>
                <a:cubicBezTo>
                  <a:pt x="176943" y="183107"/>
                  <a:pt x="167807" y="184923"/>
                  <a:pt x="158505" y="184923"/>
                </a:cubicBezTo>
                <a:cubicBezTo>
                  <a:pt x="149204" y="184923"/>
                  <a:pt x="140068" y="183107"/>
                  <a:pt x="131482" y="179584"/>
                </a:cubicBezTo>
                <a:lnTo>
                  <a:pt x="52835" y="147168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3620498" y="6340216"/>
            <a:ext cx="2639408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Curso: Visualización de Datos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620498" y="6603217"/>
            <a:ext cx="263001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Metodología ABP + CDIO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613315" y="6302644"/>
            <a:ext cx="9393" cy="601146"/>
          </a:xfrm>
          <a:custGeom>
            <a:avLst/>
            <a:gdLst/>
            <a:ahLst/>
            <a:cxnLst/>
            <a:rect l="l" t="t" r="r" b="b"/>
            <a:pathLst>
              <a:path w="9393" h="601146">
                <a:moveTo>
                  <a:pt x="0" y="0"/>
                </a:moveTo>
                <a:lnTo>
                  <a:pt x="9393" y="0"/>
                </a:lnTo>
                <a:lnTo>
                  <a:pt x="9393" y="601146"/>
                </a:lnTo>
                <a:lnTo>
                  <a:pt x="0" y="6011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7073567" y="6302644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150287" y="0"/>
                </a:moveTo>
                <a:lnTo>
                  <a:pt x="450860" y="0"/>
                </a:lnTo>
                <a:cubicBezTo>
                  <a:pt x="533861" y="0"/>
                  <a:pt x="601146" y="67286"/>
                  <a:pt x="601146" y="150287"/>
                </a:cubicBezTo>
                <a:lnTo>
                  <a:pt x="601146" y="450860"/>
                </a:lnTo>
                <a:cubicBezTo>
                  <a:pt x="601146" y="533861"/>
                  <a:pt x="533861" y="601146"/>
                  <a:pt x="450860" y="601146"/>
                </a:cubicBezTo>
                <a:lnTo>
                  <a:pt x="150287" y="601146"/>
                </a:lnTo>
                <a:cubicBezTo>
                  <a:pt x="67286" y="601146"/>
                  <a:pt x="0" y="533861"/>
                  <a:pt x="0" y="450860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7253207" y="6462324"/>
            <a:ext cx="246564" cy="281787"/>
          </a:xfrm>
          <a:custGeom>
            <a:avLst/>
            <a:gdLst/>
            <a:ahLst/>
            <a:cxnLst/>
            <a:rect l="l" t="t" r="r" b="b"/>
            <a:pathLst>
              <a:path w="246564" h="281787">
                <a:moveTo>
                  <a:pt x="70447" y="0"/>
                </a:moveTo>
                <a:cubicBezTo>
                  <a:pt x="60705" y="0"/>
                  <a:pt x="52835" y="7870"/>
                  <a:pt x="52835" y="17612"/>
                </a:cubicBezTo>
                <a:lnTo>
                  <a:pt x="52835" y="35223"/>
                </a:lnTo>
                <a:lnTo>
                  <a:pt x="35223" y="35223"/>
                </a:lnTo>
                <a:cubicBezTo>
                  <a:pt x="15796" y="35223"/>
                  <a:pt x="0" y="51019"/>
                  <a:pt x="0" y="70447"/>
                </a:cubicBezTo>
                <a:lnTo>
                  <a:pt x="0" y="96864"/>
                </a:lnTo>
                <a:lnTo>
                  <a:pt x="246564" y="96864"/>
                </a:lnTo>
                <a:lnTo>
                  <a:pt x="246564" y="70447"/>
                </a:lnTo>
                <a:cubicBezTo>
                  <a:pt x="246564" y="51019"/>
                  <a:pt x="230768" y="35223"/>
                  <a:pt x="211341" y="35223"/>
                </a:cubicBezTo>
                <a:lnTo>
                  <a:pt x="193729" y="35223"/>
                </a:lnTo>
                <a:lnTo>
                  <a:pt x="193729" y="17612"/>
                </a:lnTo>
                <a:cubicBezTo>
                  <a:pt x="193729" y="7870"/>
                  <a:pt x="185859" y="0"/>
                  <a:pt x="176117" y="0"/>
                </a:cubicBezTo>
                <a:cubicBezTo>
                  <a:pt x="166376" y="0"/>
                  <a:pt x="158505" y="7870"/>
                  <a:pt x="158505" y="17612"/>
                </a:cubicBezTo>
                <a:lnTo>
                  <a:pt x="158505" y="35223"/>
                </a:lnTo>
                <a:lnTo>
                  <a:pt x="88059" y="35223"/>
                </a:lnTo>
                <a:lnTo>
                  <a:pt x="88059" y="17612"/>
                </a:lnTo>
                <a:cubicBezTo>
                  <a:pt x="88059" y="7870"/>
                  <a:pt x="80188" y="0"/>
                  <a:pt x="70447" y="0"/>
                </a:cubicBezTo>
                <a:close/>
                <a:moveTo>
                  <a:pt x="0" y="123282"/>
                </a:moveTo>
                <a:lnTo>
                  <a:pt x="0" y="228952"/>
                </a:lnTo>
                <a:cubicBezTo>
                  <a:pt x="0" y="248380"/>
                  <a:pt x="15796" y="264176"/>
                  <a:pt x="35223" y="264176"/>
                </a:cubicBezTo>
                <a:lnTo>
                  <a:pt x="211341" y="264176"/>
                </a:lnTo>
                <a:cubicBezTo>
                  <a:pt x="230768" y="264176"/>
                  <a:pt x="246564" y="248380"/>
                  <a:pt x="246564" y="228952"/>
                </a:cubicBezTo>
                <a:lnTo>
                  <a:pt x="246564" y="123282"/>
                </a:lnTo>
                <a:lnTo>
                  <a:pt x="0" y="123282"/>
                </a:lnTo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825000" y="6340216"/>
            <a:ext cx="1587402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825000" y="6603217"/>
            <a:ext cx="1578009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dirty="0">
                <a:solidFill>
                  <a:srgbClr val="99A1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Proyecto Completo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1661</Words>
  <Application>Microsoft Office PowerPoint</Application>
  <PresentationFormat>Panorámica</PresentationFormat>
  <Paragraphs>368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MiSans</vt:lpstr>
      <vt:lpstr>Quattrocento Sans</vt:lpstr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Datos Abiertos COVID-19 en Colombia</dc:title>
  <dc:subject>Análisis de Datos Abiertos COVID-19 en Colombia</dc:subject>
  <dc:creator>Kimi</dc:creator>
  <cp:lastModifiedBy>ZULUAGA RESTREPO EMANUEL</cp:lastModifiedBy>
  <cp:revision>4</cp:revision>
  <dcterms:created xsi:type="dcterms:W3CDTF">2026-04-08T17:17:48Z</dcterms:created>
  <dcterms:modified xsi:type="dcterms:W3CDTF">2026-04-15T23:27:14Z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{"Label":"Análisis de Datos Abiertos COVID-19 en Colombia","ContentProducer":"001191110108MACG2KBH8F10000","ProduceID":"19d6e0df-45f2-8846-8000-000022cc5596","ReservedCode1":"","ContentPropagator":"001191110108MACG2KBH8F20000","PropagateID":"19d6e0df-45f2-8846-8000-000022cc5596","ReservedCode2":""}</vt:lpwstr>
  </property>
</Properties>
</file>